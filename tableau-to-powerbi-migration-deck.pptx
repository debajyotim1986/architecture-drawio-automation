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79A7"/>
            </a:solidFill>
            <a:ln w="25400" cap="flat">
              <a:solidFill>
                <a:srgbClr val="4E79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79A7"/>
              </a:solidFill>
              <a:ln w="9525" cap="flat">
                <a:solidFill>
                  <a:srgbClr val="4E7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66</c:v>
                </c:pt>
                <c:pt idx="2">
                  <c:v>70</c:v>
                </c:pt>
                <c:pt idx="3">
                  <c:v>80</c:v>
                </c:pt>
                <c:pt idx="4">
                  <c:v>86</c:v>
                </c:pt>
                <c:pt idx="5">
                  <c:v>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3-mo avg</c:v>
                </c:pt>
              </c:strCache>
            </c:strRef>
          </c:tx>
          <c:spPr>
            <a:solidFill>
              <a:srgbClr val="F28E2B"/>
            </a:solidFill>
            <a:ln w="25400" cap="flat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63</c:v>
                </c:pt>
                <c:pt idx="2">
                  <c:v>66</c:v>
                </c:pt>
                <c:pt idx="3">
                  <c:v>72</c:v>
                </c:pt>
                <c:pt idx="4">
                  <c:v>79</c:v>
                </c:pt>
                <c:pt idx="5">
                  <c:v>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5555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E79A7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55555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980</c:v>
                </c:pt>
                <c:pt idx="1">
                  <c:v>760</c:v>
                </c:pt>
                <c:pt idx="2">
                  <c:v>660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55555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18DFF"/>
            </a:solidFill>
            <a:ln w="25400" cap="flat">
              <a:solidFill>
                <a:srgbClr val="118D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8DFF"/>
              </a:solidFill>
              <a:ln w="9525" cap="flat">
                <a:solidFill>
                  <a:srgbClr val="118D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66</c:v>
                </c:pt>
                <c:pt idx="2">
                  <c:v>70</c:v>
                </c:pt>
                <c:pt idx="3">
                  <c:v>80</c:v>
                </c:pt>
                <c:pt idx="4">
                  <c:v>86</c:v>
                </c:pt>
                <c:pt idx="5">
                  <c:v>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3-mo avg</c:v>
                </c:pt>
              </c:strCache>
            </c:strRef>
          </c:tx>
          <c:spPr>
            <a:solidFill>
              <a:srgbClr val="12239E"/>
            </a:solidFill>
            <a:ln w="25400" cap="flat">
              <a:solidFill>
                <a:srgbClr val="1223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239E"/>
              </a:solidFill>
              <a:ln w="9525" cap="flat">
                <a:solidFill>
                  <a:srgbClr val="1223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63</c:v>
                </c:pt>
                <c:pt idx="2">
                  <c:v>66</c:v>
                </c:pt>
                <c:pt idx="3">
                  <c:v>72</c:v>
                </c:pt>
                <c:pt idx="4">
                  <c:v>79</c:v>
                </c:pt>
                <c:pt idx="5">
                  <c:v>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555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18DFF"/>
            </a:solidFill>
            <a:effectLst/>
          </c:spPr>
          <c:invertIfNegative val="0"/>
          <c:dLbls>
            <c:numFmt formatCode="$#,##0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55555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980</c:v>
                </c:pt>
                <c:pt idx="1">
                  <c:v>760</c:v>
                </c:pt>
                <c:pt idx="2">
                  <c:v>660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55555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44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ln w="12700">
            <a:solidFill>
              <a:srgbClr val="B07D2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51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E9DC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BI MIGRATION  ·  REFERENCE DECK  ·  1,000+ REPORT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Lifecycle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7F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</a:t>
            </a:r>
            <a:pPr indent="0" marL="0">
              <a:lnSpc>
                <a:spcPts val="5600"/>
              </a:lnSpc>
              <a:buNone/>
            </a:pPr>
            <a:r>
              <a:rPr lang="en-US" sz="5400" i="1" dirty="0">
                <a:solidFill>
                  <a:srgbClr val="E9DC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</a:t>
            </a:r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D8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VS Code Copilot agents that industrialize the accelerator's last mile — discovery, remediation, proof, and delivery — across a portfolio of 1,000+ Tableau dashboards.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532120"/>
            <a:ext cx="10543032" cy="0"/>
          </a:xfrm>
          <a:prstGeom prst="line">
            <a:avLst/>
          </a:prstGeom>
          <a:noFill/>
          <a:ln w="12700">
            <a:solidFill>
              <a:srgbClr val="B07D2B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669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ACCELERATOR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5907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Convert · 75–90%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0440" y="5669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SCOPE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0440" y="5907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10–25%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5669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5907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PBIP · TMDL · PBIR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15400" y="5669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15400" y="5907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Mode + MCP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Migration Cycle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nine agents, one shared substrate. Every converted asset lands as a text-based PBIP project in Git — which is precisely what makes it agent-operable.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994" y="2332634"/>
            <a:ext cx="3454603" cy="4114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5694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 Convert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96112" y="3410712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Inventory &amp; Triage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Bulk Conversion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5029200"/>
            <a:ext cx="2944368" cy="0"/>
          </a:xfrm>
          <a:prstGeom prst="line">
            <a:avLst/>
          </a:prstGeom>
          <a:noFill/>
          <a:ln w="9525">
            <a:solidFill>
              <a:srgbClr val="D9D6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5074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estate; run the bulk pass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79976" y="233172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0890" y="2332634"/>
            <a:ext cx="3454603" cy="41148"/>
          </a:xfrm>
          <a:prstGeom prst="rect">
            <a:avLst/>
          </a:prstGeom>
          <a:solidFill>
            <a:srgbClr val="3E7048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25694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E7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36008" y="28346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36008" y="3410712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Data Layer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Semantic Model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Calc → DAX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Report Layout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RLS Migration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36008" y="5029200"/>
            <a:ext cx="2944368" cy="0"/>
          </a:xfrm>
          <a:prstGeom prst="line">
            <a:avLst/>
          </a:prstGeom>
          <a:noFill/>
          <a:ln w="9525">
            <a:solidFill>
              <a:srgbClr val="D9D6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5074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the accelerator can't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19872" y="233172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0786" y="2332634"/>
            <a:ext cx="3454603" cy="4114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23" name="Text 21"/>
          <p:cNvSpPr/>
          <p:nvPr/>
        </p:nvSpPr>
        <p:spPr>
          <a:xfrm>
            <a:off x="8375904" y="256946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75904" y="28346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&amp; Ship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75904" y="3410712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Validation &amp; Parity Gate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CI/CD &amp; Cutover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75904" y="5029200"/>
            <a:ext cx="2944368" cy="0"/>
          </a:xfrm>
          <a:prstGeom prst="line">
            <a:avLst/>
          </a:prstGeom>
          <a:noFill/>
          <a:ln w="9525">
            <a:solidFill>
              <a:srgbClr val="D9D6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5074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parity, promote, decommission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742432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BF7EE"/>
          </a:solidFill>
          <a:ln w="9525">
            <a:solidFill>
              <a:srgbClr val="E9DCC3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57424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GATING RULE   </a:t>
            </a:r>
            <a:pPr indent="0" marL="0">
              <a:buNone/>
            </a:pPr>
            <a:r>
              <a:rPr lang="en-US" sz="12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leaves Remediation until Agent 8 issues a parity certificate. Failures route back to the owning agent — humans review diffs, agents write the fixes.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= MCP THE AGENT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65376"/>
            <a:ext cx="384048" cy="384048"/>
          </a:xfrm>
          <a:prstGeom prst="ellipse">
            <a:avLst/>
          </a:prstGeom>
          <a:solidFill>
            <a:srgbClr val="34618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3312" y="1847088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Triage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2322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every .twb/.twbx, scores complexity, builds the wave plan.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9536" y="2670048"/>
            <a:ext cx="762610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670048"/>
            <a:ext cx="7626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Tableau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43400" y="166420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1865376"/>
            <a:ext cx="384048" cy="384048"/>
          </a:xfrm>
          <a:prstGeom prst="ellipse">
            <a:avLst/>
          </a:prstGeom>
          <a:solidFill>
            <a:srgbClr val="2C7A73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56632" y="1847088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Conversion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62856" y="2322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.pbix → PBIP in Git; diffs vs catalog into a routed defect queue.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62856" y="2670048"/>
            <a:ext cx="943661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2670048"/>
            <a:ext cx="9436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ADO/GitHub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46720" y="166420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47888" y="1865376"/>
            <a:ext cx="384048" cy="384048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22" name="Text 20"/>
          <p:cNvSpPr/>
          <p:nvPr/>
        </p:nvSpPr>
        <p:spPr>
          <a:xfrm>
            <a:off x="824788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59952" y="1847088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66176" y="2322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SQL &amp; joins → Power Query M; blends → relationships.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66176" y="267004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6700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Database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" y="3191256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" y="3392424"/>
            <a:ext cx="384048" cy="384048"/>
          </a:xfrm>
          <a:prstGeom prst="ellipse">
            <a:avLst/>
          </a:prstGeom>
          <a:solidFill>
            <a:srgbClr val="3E7048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53312" y="3374136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Model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9536" y="3849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TMDL in bulk: hierarchies, calc groups, standards, BPA-clean.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9536" y="419709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Modeling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43400" y="3191256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44568" y="3392424"/>
            <a:ext cx="384048" cy="384048"/>
          </a:xfrm>
          <a:prstGeom prst="ellipse">
            <a:avLst/>
          </a:prstGeom>
          <a:solidFill>
            <a:srgbClr val="A13D52"/>
          </a:solidFill>
          <a:ln/>
        </p:spPr>
      </p:sp>
      <p:sp>
        <p:nvSpPr>
          <p:cNvPr id="36" name="Text 34"/>
          <p:cNvSpPr/>
          <p:nvPr/>
        </p:nvSpPr>
        <p:spPr>
          <a:xfrm>
            <a:off x="4544568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56632" y="3374136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 → DAX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62856" y="3849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LODs &amp; table calcs → DAX, every fix proven by an executed query.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62856" y="419709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62856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Modeling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68112" y="4197096"/>
            <a:ext cx="702259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68112" y="4197096"/>
            <a:ext cx="7022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Remote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046720" y="3191256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47888" y="3392424"/>
            <a:ext cx="384048" cy="384048"/>
          </a:xfrm>
          <a:prstGeom prst="ellipse">
            <a:avLst/>
          </a:prstGeom>
          <a:solidFill>
            <a:srgbClr val="B25B2E"/>
          </a:solidFill>
          <a:ln/>
        </p:spPr>
      </p:sp>
      <p:sp>
        <p:nvSpPr>
          <p:cNvPr id="45" name="Text 43"/>
          <p:cNvSpPr/>
          <p:nvPr/>
        </p:nvSpPr>
        <p:spPr>
          <a:xfrm>
            <a:off x="8247888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59952" y="3374136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Layout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266176" y="3849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PBIR JSON: actions → bookmarks, tooltip pages, one theme.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66176" y="4197096"/>
            <a:ext cx="702259" cy="237744"/>
          </a:xfrm>
          <a:prstGeom prst="roundRect">
            <a:avLst>
              <a:gd name="adj" fmla="val 50000"/>
            </a:avLst>
          </a:prstGeom>
          <a:solidFill>
            <a:srgbClr val="EDECE7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66176" y="4197096"/>
            <a:ext cx="7022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no MCP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0080" y="4718304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1248" y="4919472"/>
            <a:ext cx="384048" cy="384048"/>
          </a:xfrm>
          <a:prstGeom prst="ellipse">
            <a:avLst/>
          </a:prstGeom>
          <a:solidFill>
            <a:srgbClr val="A34D74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53312" y="4901184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RLS Migration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59536" y="5376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filters → RLS roles + DAX, proven per role by impersonation.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59536" y="5724144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" y="57241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Modeling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43400" y="4718304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544568" y="4919472"/>
            <a:ext cx="384048" cy="384048"/>
          </a:xfrm>
          <a:prstGeom prst="ellipse">
            <a:avLst/>
          </a:prstGeom>
          <a:solidFill>
            <a:srgbClr val="B07D2B"/>
          </a:solidFill>
          <a:ln/>
        </p:spPr>
      </p:sp>
      <p:sp>
        <p:nvSpPr>
          <p:cNvPr id="59" name="Text 57"/>
          <p:cNvSpPr/>
          <p:nvPr/>
        </p:nvSpPr>
        <p:spPr>
          <a:xfrm>
            <a:off x="4544568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56632" y="4901184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Parity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4562856" y="5376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golden data vs DAX results → the parity certificate.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562856" y="5724144"/>
            <a:ext cx="762610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62856" y="5724144"/>
            <a:ext cx="7626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Tableau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407762" y="5724144"/>
            <a:ext cx="702259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07762" y="5724144"/>
            <a:ext cx="7022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Remote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046720" y="4718304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247888" y="4919472"/>
            <a:ext cx="384048" cy="384048"/>
          </a:xfrm>
          <a:prstGeom prst="ellipse">
            <a:avLst/>
          </a:prstGeom>
          <a:solidFill>
            <a:srgbClr val="7A6A2E"/>
          </a:solidFill>
          <a:ln/>
        </p:spPr>
      </p:sp>
      <p:sp>
        <p:nvSpPr>
          <p:cNvPr id="68" name="Text 66"/>
          <p:cNvSpPr/>
          <p:nvPr/>
        </p:nvSpPr>
        <p:spPr>
          <a:xfrm>
            <a:off x="8247888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759952" y="4901184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&amp; Cutover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8266176" y="5376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Dev→Test→Prod via Fabric, auto-docs, parallel-run, decommission.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266176" y="5724144"/>
            <a:ext cx="943661" cy="237744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66176" y="5724144"/>
            <a:ext cx="9436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ADO/GitHub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1 –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Conversion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994" y="1692554"/>
            <a:ext cx="5347411" cy="4114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947672"/>
            <a:ext cx="457200" cy="457200"/>
          </a:xfrm>
          <a:prstGeom prst="ellipse">
            <a:avLst/>
          </a:prstGeom>
          <a:solidFill>
            <a:srgbClr val="34618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81328" y="19293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Triage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81328" y="22951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whole estate before anything converts.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816352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.twb / .twbx XML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77540" y="28163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1860" y="2816352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 catalog (SQLite)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3282696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14400" y="3328416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calcs · LODs · table calcs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77540" y="332841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1860" y="3328416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 score / tier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3794760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14400" y="3840480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blends · SQL · user filters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77540" y="38404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51860" y="3840480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flags → agent routing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4400" y="4306824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usage stats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77540" y="435254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51860" y="4352544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plan + decommission list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" y="5029200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029200"/>
            <a:ext cx="93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Tableau MCP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99632" y="169164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0546" y="1692554"/>
            <a:ext cx="5347411" cy="41148"/>
          </a:xfrm>
          <a:prstGeom prst="rect">
            <a:avLst/>
          </a:prstGeom>
          <a:solidFill>
            <a:srgbClr val="2C7A73"/>
          </a:solidFill>
          <a:ln/>
        </p:spPr>
      </p:sp>
      <p:sp>
        <p:nvSpPr>
          <p:cNvPr id="31" name="Shape 29"/>
          <p:cNvSpPr/>
          <p:nvPr/>
        </p:nvSpPr>
        <p:spPr>
          <a:xfrm>
            <a:off x="6455664" y="1947672"/>
            <a:ext cx="457200" cy="457200"/>
          </a:xfrm>
          <a:prstGeom prst="ellipse">
            <a:avLst/>
          </a:prstGeom>
          <a:solidFill>
            <a:srgbClr val="2C7A73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040880" y="19293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Conversion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040880" y="22951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binary accelerator output into editable source.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73952" y="2816352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of .twb/.twbx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37092" y="28163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11412" y="2816352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 Convert (batch) → .pbix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73952" y="3282696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473952" y="3328416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.pbix (binary, per asset)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37092" y="332841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11412" y="3328416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PBIP: TMDL + PBIR JSON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73952" y="3794760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473952" y="3840480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PBIP folders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737092" y="38404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11412" y="3840480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repo · branch per wave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73952" y="4306824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6473952" y="4352544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 vs converted diff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737092" y="435254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011412" y="4352544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 work items → Agents 3–7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73952" y="50292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5029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ADO / GitHub MCP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" y="5742432"/>
            <a:ext cx="10908792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Git/ADO MCP?  </a:t>
            </a:r>
            <a:pPr indent="0" marL="0">
              <a:buNone/>
            </a:pPr>
            <a:r>
              <a:rPr lang="en-US" sz="11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only on branches with human PR review — the MCP is how they create branches, commit PBIP, open PRs, and raise one tracked work item per defect, with no hand-written REST glue.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4 ·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Security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994" y="1665122"/>
            <a:ext cx="5347411" cy="41148"/>
          </a:xfrm>
          <a:prstGeom prst="rect">
            <a:avLst/>
          </a:prstGeom>
          <a:solidFill>
            <a:srgbClr val="3E7048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920240"/>
            <a:ext cx="457200" cy="457200"/>
          </a:xfrm>
          <a:prstGeom prst="ellipse">
            <a:avLst/>
          </a:prstGeom>
          <a:solidFill>
            <a:srgbClr val="3E7048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81328" y="19385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Model Builder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660904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converter TMDL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77540" y="266090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1860" y="2660904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governed model (names·formats)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118104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3154680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hierarchies + dates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77540" y="31546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1860" y="3154680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hierarchies + date dim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3611880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914400" y="3648456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parameters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77540" y="364845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1860" y="3648456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/ what-if / M params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4105656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14400" y="4142232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repeated calcs (YTD·PY·Δ%)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77540" y="414223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51860" y="4142232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calculation group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4617720"/>
            <a:ext cx="4800600" cy="0"/>
          </a:xfrm>
          <a:prstGeom prst="line">
            <a:avLst/>
          </a:prstGeom>
          <a:noFill/>
          <a:ln w="12700">
            <a:solidFill>
              <a:srgbClr val="B07D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translates literally — no standards, no hierarchies, duplicated measures. Governance here makes every later fix cheaper and every model BPA-clean before DAX work starts.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58887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88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PBI Modeling MCP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99632" y="1664208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0546" y="1665122"/>
            <a:ext cx="5347411" cy="41148"/>
          </a:xfrm>
          <a:prstGeom prst="rect">
            <a:avLst/>
          </a:prstGeom>
          <a:solidFill>
            <a:srgbClr val="A34D74"/>
          </a:solidFill>
          <a:ln/>
        </p:spPr>
      </p:sp>
      <p:sp>
        <p:nvSpPr>
          <p:cNvPr id="32" name="Shape 30"/>
          <p:cNvSpPr/>
          <p:nvPr/>
        </p:nvSpPr>
        <p:spPr>
          <a:xfrm>
            <a:off x="6455664" y="1920240"/>
            <a:ext cx="457200" cy="457200"/>
          </a:xfrm>
          <a:prstGeom prst="ellipse">
            <a:avLst/>
          </a:prstGeom>
          <a:solidFill>
            <a:srgbClr val="A34D74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040880" y="19385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RLS Migration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473952" y="2660904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user filters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37092" y="266090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11412" y="2660904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RLS roles (per region)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73952" y="3118104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473952" y="3154680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USERNAME() / ISMEMBEROF()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737092" y="31546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11412" y="3154680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RLS · UPN() DAX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73952" y="3611880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473952" y="3648456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entitlement-table joins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37092" y="364845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11412" y="3648456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dynamic role + lookup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73952" y="4105656"/>
            <a:ext cx="480060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6473952" y="4142232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users &amp; groups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37092" y="414223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011412" y="4142232"/>
            <a:ext cx="2263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ID UPNs &amp; groups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73952" y="4617720"/>
            <a:ext cx="4800600" cy="0"/>
          </a:xfrm>
          <a:prstGeom prst="line">
            <a:avLst/>
          </a:prstGeom>
          <a:noFill/>
          <a:ln w="12700">
            <a:solidFill>
              <a:srgbClr val="B07D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  </a:t>
            </a:r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never migrates automatically — accelerators skip it entirely. Every role ships with an impersonated test suite, because a wrong RLS filter is a data breach, not a display bug.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73952" y="588873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2E8D3"/>
          </a:solidFill>
          <a:ln w="6350">
            <a:solidFill>
              <a:srgbClr val="D9D6C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73952" y="5888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PBI Modeling MCP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MAPS TO WHAT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↔ Power BI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5225796" cy="384048"/>
          </a:xfrm>
          <a:prstGeom prst="roundRect">
            <a:avLst>
              <a:gd name="adj" fmla="val 14286"/>
            </a:avLst>
          </a:prstGeom>
          <a:solidFill>
            <a:srgbClr val="34618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5225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· SOURCE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23076" y="1645920"/>
            <a:ext cx="5225796" cy="384048"/>
          </a:xfrm>
          <a:prstGeom prst="roundRect">
            <a:avLst>
              <a:gd name="adj" fmla="val 14286"/>
            </a:avLst>
          </a:prstGeom>
          <a:solidFill>
            <a:srgbClr val="B07D2B"/>
          </a:solidFill>
          <a:ln/>
        </p:spPr>
      </p:sp>
      <p:sp>
        <p:nvSpPr>
          <p:cNvPr id="9" name="Text 7"/>
          <p:cNvSpPr/>
          <p:nvPr/>
        </p:nvSpPr>
        <p:spPr>
          <a:xfrm>
            <a:off x="6323076" y="1645920"/>
            <a:ext cx="52257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 · 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3969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3969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13969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(.twb / .twbx)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65876" y="213969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3076" y="213969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3076" y="213969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87668" y="213969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PBIP (Power BI Project) — TMDL + PBIR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57403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57403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57403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/ Extract (.hyper)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65876" y="257403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23076" y="257403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3076" y="257403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87668" y="257403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· Import / DirectQuery / Direct Lake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00837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00837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00837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65876" y="300837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23076" y="300837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23076" y="300837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30" name="Text 28"/>
          <p:cNvSpPr/>
          <p:nvPr/>
        </p:nvSpPr>
        <p:spPr>
          <a:xfrm>
            <a:off x="6487668" y="300837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/ calculated column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344271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44271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" y="344271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expression (FIXED/INCLUDE/EXCLUDE)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65876" y="344271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23076" y="344271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3076" y="344271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37" name="Text 35"/>
          <p:cNvSpPr/>
          <p:nvPr/>
        </p:nvSpPr>
        <p:spPr>
          <a:xfrm>
            <a:off x="6487668" y="344271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+ REMOVEFILTERS / ALLEXCEPT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387705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387705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" y="387705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calc (RUNNING_SUM, WINDOW_AVG…)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865876" y="387705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23076" y="387705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3076" y="387705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4" name="Text 42"/>
          <p:cNvSpPr/>
          <p:nvPr/>
        </p:nvSpPr>
        <p:spPr>
          <a:xfrm>
            <a:off x="6487668" y="387705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WINDOW / OFFSET / RANKX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" y="431139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431139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" y="431139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blend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865876" y="431139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23076" y="431139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23076" y="431139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51" name="Text 49"/>
          <p:cNvSpPr/>
          <p:nvPr/>
        </p:nvSpPr>
        <p:spPr>
          <a:xfrm>
            <a:off x="6487668" y="431139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relationship / composite model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474573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" y="474573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54" name="Text 52"/>
          <p:cNvSpPr/>
          <p:nvPr/>
        </p:nvSpPr>
        <p:spPr>
          <a:xfrm>
            <a:off x="804672" y="474573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SQL / RAWSQL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865876" y="474573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323076" y="474573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3076" y="474573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58" name="Text 56"/>
          <p:cNvSpPr/>
          <p:nvPr/>
        </p:nvSpPr>
        <p:spPr>
          <a:xfrm>
            <a:off x="6487668" y="474573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M / native query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40080" y="518007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" y="518007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61" name="Text 59"/>
          <p:cNvSpPr/>
          <p:nvPr/>
        </p:nvSpPr>
        <p:spPr>
          <a:xfrm>
            <a:off x="804672" y="518007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865876" y="518007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323076" y="518007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23076" y="518007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65" name="Text 63"/>
          <p:cNvSpPr/>
          <p:nvPr/>
        </p:nvSpPr>
        <p:spPr>
          <a:xfrm>
            <a:off x="6487668" y="518007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/ what-if / dynamic M parameter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40080" y="561441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561441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68" name="Text 66"/>
          <p:cNvSpPr/>
          <p:nvPr/>
        </p:nvSpPr>
        <p:spPr>
          <a:xfrm>
            <a:off x="804672" y="561441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actions (filter·URL·sheet swap)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5865876" y="561441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323076" y="561441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23076" y="561441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72" name="Text 70"/>
          <p:cNvSpPr/>
          <p:nvPr/>
        </p:nvSpPr>
        <p:spPr>
          <a:xfrm>
            <a:off x="6487668" y="561441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 · drillthrough · bookmarks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40080" y="604875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0080" y="6048756"/>
            <a:ext cx="45720" cy="36118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75" name="Text 73"/>
          <p:cNvSpPr/>
          <p:nvPr/>
        </p:nvSpPr>
        <p:spPr>
          <a:xfrm>
            <a:off x="804672" y="604875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filter / USERNAME() calc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5865876" y="6048756"/>
            <a:ext cx="457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6323076" y="6048756"/>
            <a:ext cx="5225796" cy="361188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23076" y="6048756"/>
            <a:ext cx="45720" cy="36118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79" name="Text 77"/>
          <p:cNvSpPr/>
          <p:nvPr/>
        </p:nvSpPr>
        <p:spPr>
          <a:xfrm>
            <a:off x="6487668" y="6048756"/>
            <a:ext cx="4951476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role + DAX filter (USERPRINCIPALNAME)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PBIP PROJECT PER ASSET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 Repository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6537960" cy="4709160"/>
          </a:xfrm>
          <a:prstGeom prst="roundRect">
            <a:avLst>
              <a:gd name="adj" fmla="val 1165"/>
            </a:avLst>
          </a:prstGeom>
          <a:solidFill>
            <a:srgbClr val="16191E"/>
          </a:solidFill>
          <a:ln/>
          <a:effectLst>
            <a:outerShdw sx="100000" sy="100000" kx="0" ky="0" algn="bl" rotWithShape="0" blurRad="152400" dist="50800" dir="5400000">
              <a:srgbClr val="16191E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47672"/>
            <a:ext cx="59893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bi-migration-sales/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← repo per domain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agent charter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calc·rls .prompt.md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ci.yml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gates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assets/sales-overview/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…SemanticModel/definition/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├─ </a:t>
            </a:r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4C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model.tmdl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Agents 3·4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*.tmdl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├─ </a:t>
            </a:r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4C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*.tmdl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Agent 5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└─ </a:t>
            </a:r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4C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*.tmdl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← Agent 7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…Report/definition/pages/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A6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parity-spec · golden.parquet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</a:t>
            </a:r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4C1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parity-certificate.json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← A8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*.json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Agent 2 routes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FB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patterns/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tableau-dax · tableau-m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theme.json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Agent 6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9DD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wave-plan.yaml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Agent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0" y="1691640"/>
            <a:ext cx="41422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1691640"/>
            <a:ext cx="45720" cy="1078992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10" name="Text 8"/>
          <p:cNvSpPr/>
          <p:nvPr/>
        </p:nvSpPr>
        <p:spPr>
          <a:xfrm>
            <a:off x="7607808" y="18105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text, not .pbix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07808" y="2121408"/>
            <a:ext cx="3776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TMDL + PBIR are plain files — agents edit them, Git diffs them, every change is a reviewable PR. A binary .pbix allows none of that.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06640" y="2898648"/>
            <a:ext cx="41422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06640" y="2898648"/>
            <a:ext cx="45720" cy="1078992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14" name="Text 12"/>
          <p:cNvSpPr/>
          <p:nvPr/>
        </p:nvSpPr>
        <p:spPr>
          <a:xfrm>
            <a:off x="7607808" y="30175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07808" y="3328416"/>
            <a:ext cx="3776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wave/&lt;n&gt; per batch; fix/&lt;asset&gt;/&lt;defect-id&gt; per remediation. Agents never touch main.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4105656"/>
            <a:ext cx="41422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0" y="4105656"/>
            <a:ext cx="45720" cy="1078992"/>
          </a:xfrm>
          <a:prstGeom prst="rect">
            <a:avLst/>
          </a:prstGeom>
          <a:solidFill>
            <a:srgbClr val="3E7048"/>
          </a:solidFill>
          <a:ln/>
        </p:spPr>
      </p:sp>
      <p:sp>
        <p:nvSpPr>
          <p:cNvPr id="18" name="Text 16"/>
          <p:cNvSpPr/>
          <p:nvPr/>
        </p:nvSpPr>
        <p:spPr>
          <a:xfrm>
            <a:off x="7607808" y="422452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gates (CI)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07808" y="4535424"/>
            <a:ext cx="3776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→ BPA → DAX unit tests → parity certificate present. All green or no merge.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0" y="5312664"/>
            <a:ext cx="41422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06640" y="5312664"/>
            <a:ext cx="45720" cy="1078992"/>
          </a:xfrm>
          <a:prstGeom prst="rect">
            <a:avLst/>
          </a:prstGeom>
          <a:solidFill>
            <a:srgbClr val="A34D74"/>
          </a:solidFill>
          <a:ln/>
        </p:spPr>
      </p:sp>
      <p:sp>
        <p:nvSpPr>
          <p:cNvPr id="22" name="Text 20"/>
          <p:cNvSpPr/>
          <p:nvPr/>
        </p:nvSpPr>
        <p:spPr>
          <a:xfrm>
            <a:off x="7607808" y="5431536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memory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07808" y="5742432"/>
            <a:ext cx="3776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patterns/ folder is the estate's growing Tableau→DAX/M knowledge base — every solved defect makes the next cheaper.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IDENTICAL DATA · NATIVE FEEL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Dashboard, Both Worlds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27632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FBF7EE"/>
          </a:solidFill>
          <a:ln w="9525">
            <a:solidFill>
              <a:srgbClr val="E9DC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276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data everywhere   </a:t>
            </a:r>
            <a:pPr indent="0" marL="0">
              <a:buNone/>
            </a:pPr>
            <a:r>
              <a:rPr lang="en-US" sz="11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$2.40M · Profit $412K · Orders 9,842 · Jan–Jun trend · category bars — this equality is exactly what Agent 8 certifies.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5349240" cy="384048"/>
          </a:xfrm>
          <a:prstGeom prst="roundRect">
            <a:avLst>
              <a:gd name="adj" fmla="val 19048"/>
            </a:avLst>
          </a:prstGeom>
          <a:solidFill>
            <a:srgbClr val="34618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423160"/>
            <a:ext cx="5349240" cy="201168"/>
          </a:xfrm>
          <a:prstGeom prst="rect">
            <a:avLst/>
          </a:prstGeom>
          <a:solidFill>
            <a:srgbClr val="34618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2402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EAF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· Sales Overview.twbx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624328"/>
            <a:ext cx="5349240" cy="3730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889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Overview — FY26 H1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191256"/>
            <a:ext cx="1539240" cy="658368"/>
          </a:xfrm>
          <a:prstGeom prst="roundRect">
            <a:avLst>
              <a:gd name="adj" fmla="val 6944"/>
            </a:avLst>
          </a:prstGeom>
          <a:solidFill>
            <a:srgbClr val="F5F8FB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64408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61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$2.40M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3621024"/>
            <a:ext cx="153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5080" y="3191256"/>
            <a:ext cx="1539240" cy="658368"/>
          </a:xfrm>
          <a:prstGeom prst="roundRect">
            <a:avLst>
              <a:gd name="adj" fmla="val 6944"/>
            </a:avLst>
          </a:prstGeom>
          <a:solidFill>
            <a:srgbClr val="F5F8FB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5080" y="3264408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61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$412K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545080" y="3621024"/>
            <a:ext cx="153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21480" y="3191256"/>
            <a:ext cx="1539240" cy="658368"/>
          </a:xfrm>
          <a:prstGeom prst="roundRect">
            <a:avLst>
              <a:gd name="adj" fmla="val 6944"/>
            </a:avLst>
          </a:prstGeom>
          <a:solidFill>
            <a:srgbClr val="F5F8FB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1480" y="3264408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61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9,842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21480" y="3621024"/>
            <a:ext cx="153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868680" y="4014216"/>
          <a:ext cx="489204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Chart 1" descr=""/>
          <p:cNvGraphicFramePr/>
          <p:nvPr/>
        </p:nvGraphicFramePr>
        <p:xfrm>
          <a:off x="868680" y="5184648"/>
          <a:ext cx="489204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6199632" y="22402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99632" y="2240280"/>
            <a:ext cx="5349240" cy="384048"/>
          </a:xfrm>
          <a:prstGeom prst="roundRect">
            <a:avLst>
              <a:gd name="adj" fmla="val 19048"/>
            </a:avLst>
          </a:prstGeom>
          <a:solidFill>
            <a:srgbClr val="F2C811"/>
          </a:solidFill>
          <a:ln/>
        </p:spPr>
      </p:sp>
      <p:sp>
        <p:nvSpPr>
          <p:cNvPr id="27" name="Shape 23"/>
          <p:cNvSpPr/>
          <p:nvPr/>
        </p:nvSpPr>
        <p:spPr>
          <a:xfrm>
            <a:off x="6199632" y="2423160"/>
            <a:ext cx="5349240" cy="201168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28" name="Text 24"/>
          <p:cNvSpPr/>
          <p:nvPr/>
        </p:nvSpPr>
        <p:spPr>
          <a:xfrm>
            <a:off x="6428232" y="22402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3A3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 · SalesOverview.pbip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199632" y="2624328"/>
            <a:ext cx="5349240" cy="3730752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0" name="Text 26"/>
          <p:cNvSpPr/>
          <p:nvPr/>
        </p:nvSpPr>
        <p:spPr>
          <a:xfrm>
            <a:off x="6428232" y="27889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 — FY26 H1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428232" y="3191256"/>
            <a:ext cx="1539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6428232" y="3264408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$2.40M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6428232" y="3621024"/>
            <a:ext cx="153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8104632" y="3191256"/>
            <a:ext cx="1539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8104632" y="3264408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$412K</a:t>
            </a:r>
            <a:endParaRPr lang="en-US" sz="1700" dirty="0"/>
          </a:p>
        </p:txBody>
      </p:sp>
      <p:sp>
        <p:nvSpPr>
          <p:cNvPr id="36" name="Text 32"/>
          <p:cNvSpPr/>
          <p:nvPr/>
        </p:nvSpPr>
        <p:spPr>
          <a:xfrm>
            <a:off x="8104632" y="3621024"/>
            <a:ext cx="153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9781032" y="3191256"/>
            <a:ext cx="1539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9781032" y="3264408"/>
            <a:ext cx="153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9,842</a:t>
            </a:r>
            <a:endParaRPr lang="en-US" sz="1700" dirty="0"/>
          </a:p>
        </p:txBody>
      </p:sp>
      <p:sp>
        <p:nvSpPr>
          <p:cNvPr id="39" name="Text 35"/>
          <p:cNvSpPr/>
          <p:nvPr/>
        </p:nvSpPr>
        <p:spPr>
          <a:xfrm>
            <a:off x="9781032" y="3621024"/>
            <a:ext cx="153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00" dirty="0"/>
          </a:p>
        </p:txBody>
      </p:sp>
      <p:graphicFrame>
        <p:nvGraphicFramePr>
          <p:cNvPr id="40" name="Chart 2" descr=""/>
          <p:cNvGraphicFramePr/>
          <p:nvPr/>
        </p:nvGraphicFramePr>
        <p:xfrm>
          <a:off x="6428232" y="4014216"/>
          <a:ext cx="489204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1" name="Chart 3" descr=""/>
          <p:cNvGraphicFramePr/>
          <p:nvPr/>
        </p:nvGraphicFramePr>
        <p:xfrm>
          <a:off x="6428232" y="5184648"/>
          <a:ext cx="489204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2" name="Text 36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HUMANS · FILES ·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the Factory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3529584" cy="461772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994" y="1692554"/>
            <a:ext cx="3527755" cy="41148"/>
          </a:xfrm>
          <a:prstGeom prst="rect">
            <a:avLst/>
          </a:prstGeom>
          <a:solidFill>
            <a:srgbClr val="A13D52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91109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46888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1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2706624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Wave-plan sign-off — owners confirm scope, consolidation &amp; decommission (after Agent 1).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3355848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1071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1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364845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diff — a human reviews each remediation; agents never touch main.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" y="4297680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35254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1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6112" y="459028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owner approval — data owner signs the security pack per asset (Agent 7).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" y="5239512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294376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1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" y="553212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 business sign-off — visual diff gallery reviewed before Prod (Agents 8→9).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1691640"/>
            <a:ext cx="3529584" cy="461772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4314" y="1692554"/>
            <a:ext cx="3527755" cy="4114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191109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.pbix lifecycle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99432" y="246888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99432" y="2706624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— Pulse Convert returns a .pbix per dashboard.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99432" y="3355848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341071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99432" y="364845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— decompiled to PBIP text and committed to Git.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99432" y="4297680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435254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– 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99432" y="459028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by design — remediation happens on diffable text.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99432" y="5239512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5294376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99432" y="553212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return — published from PBIP; compile an archive .pbix only if a file deliverable is required.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1691640"/>
            <a:ext cx="3529584" cy="461772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7634" y="1692554"/>
            <a:ext cx="3527755" cy="41148"/>
          </a:xfrm>
          <a:prstGeom prst="rect">
            <a:avLst/>
          </a:prstGeom>
          <a:solidFill>
            <a:srgbClr val="2C7A73"/>
          </a:solidFill>
          <a:ln/>
        </p:spPr>
      </p:sp>
      <p:sp>
        <p:nvSpPr>
          <p:cNvPr id="36" name="Text 34"/>
          <p:cNvSpPr/>
          <p:nvPr/>
        </p:nvSpPr>
        <p:spPr>
          <a:xfrm>
            <a:off x="8302752" y="191109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Steering metrics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302752" y="246888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C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02752" y="2706624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pass rate — % checks green on first validation run.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302752" y="3355848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02752" y="341071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C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02752" y="364845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per dashboard — convert → certified.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02752" y="4297680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02752" y="435254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C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LEVERAGE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02752" y="459028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rate — % defects closed without human rewrite.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02752" y="5239512"/>
            <a:ext cx="3017520" cy="0"/>
          </a:xfrm>
          <a:prstGeom prst="line">
            <a:avLst/>
          </a:prstGeom>
          <a:noFill/>
          <a:ln w="6350">
            <a:solidFill>
              <a:srgbClr val="D9D6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02752" y="5294376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C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02752" y="553212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reduction — dashboards decommissioned or consolidated.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→ POWER BI  ·  AGENTIC MIGRATION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498080" y="3840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50" kern="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CALLS WHAT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07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  </a:t>
            </a:r>
            <a:pPr indent="0" marL="0">
              <a:buNone/>
            </a:pPr>
            <a:r>
              <a:rPr lang="en-US" sz="30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Servers in the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9D6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 are accelerants that remove glue code — the Tabular Editor CLI and REST APIs remain the deterministic fallback layer beneath them.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090879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2359152"/>
            <a:ext cx="402336" cy="402336"/>
          </a:xfrm>
          <a:prstGeom prst="ellipse">
            <a:avLst/>
          </a:prstGeom>
          <a:solidFill>
            <a:srgbClr val="34618E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2951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MCP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615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61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1 · 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2340864"/>
            <a:ext cx="0" cy="438912"/>
          </a:xfrm>
          <a:prstGeom prst="line">
            <a:avLst/>
          </a:prstGeom>
          <a:noFill/>
          <a:ln w="9525">
            <a:solidFill>
              <a:srgbClr val="D9D6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04288"/>
            <a:ext cx="6702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Tableau server (npx / mcp.tableau.com). Workbook &amp; datasource access; view data captured as golden datasets for validation.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090879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3163824"/>
            <a:ext cx="402336" cy="402336"/>
          </a:xfrm>
          <a:prstGeom prst="ellipse">
            <a:avLst/>
          </a:prstGeom>
          <a:solidFill>
            <a:srgbClr val="3E7048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099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PBI Modeling MCP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419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70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4 · 5 · 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3145536"/>
            <a:ext cx="0" cy="438912"/>
          </a:xfrm>
          <a:prstGeom prst="line">
            <a:avLst/>
          </a:prstGeom>
          <a:noFill/>
          <a:ln w="9525">
            <a:solidFill>
              <a:srgbClr val="D9D6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108960"/>
            <a:ext cx="6702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local server. Bulk TMDL/PBIP edits — measures, relationships, roles — with transaction support and Best Practice Analyzer.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822192"/>
            <a:ext cx="1090879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9536" y="3968496"/>
            <a:ext cx="402336" cy="402336"/>
          </a:xfrm>
          <a:prstGeom prst="ellipse">
            <a:avLst/>
          </a:prstGeom>
          <a:solidFill>
            <a:srgbClr val="B07D2B"/>
          </a:solidFill>
          <a:ln/>
        </p:spPr>
      </p:sp>
      <p:sp>
        <p:nvSpPr>
          <p:cNvPr id="23" name="Text 21"/>
          <p:cNvSpPr/>
          <p:nvPr/>
        </p:nvSpPr>
        <p:spPr>
          <a:xfrm>
            <a:off x="859536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904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PBI Remote MCP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5 · 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43400" y="3950208"/>
            <a:ext cx="0" cy="438912"/>
          </a:xfrm>
          <a:prstGeom prst="line">
            <a:avLst/>
          </a:prstGeom>
          <a:noFill/>
          <a:ln w="9525">
            <a:solidFill>
              <a:srgbClr val="D9D6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913632"/>
            <a:ext cx="6702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Fabric endpoint (preview; tenant setting required). Executes DAX and reads model metadata for proof and parity queries.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626864"/>
            <a:ext cx="1090879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9536" y="4773168"/>
            <a:ext cx="402336" cy="402336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⚡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1732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 / GitHub MCP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5029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4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2 · 9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4754880"/>
            <a:ext cx="0" cy="438912"/>
          </a:xfrm>
          <a:prstGeom prst="line">
            <a:avLst/>
          </a:prstGeom>
          <a:noFill/>
          <a:ln w="9525">
            <a:solidFill>
              <a:srgbClr val="D9D6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718304"/>
            <a:ext cx="6702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commits, PRs, work items, pipeline runs as agent-callable tools — the Git workflow and defect routing with no custom REST glue.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5431536"/>
            <a:ext cx="10908792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9D6CD"/>
            </a:solidFill>
            <a:prstDash val="solid"/>
          </a:ln>
          <a:effectLst>
            <a:outerShdw sx="100000" sy="100000" kx="0" ky="0" algn="bl" rotWithShape="0" blurRad="114300" dist="38100" dir="5400000">
              <a:srgbClr val="16191E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9536" y="5577840"/>
            <a:ext cx="402336" cy="402336"/>
          </a:xfrm>
          <a:prstGeom prst="ellipse">
            <a:avLst/>
          </a:prstGeom>
          <a:solidFill>
            <a:srgbClr val="2C7A73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" y="5577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⚡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17320" y="5513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MCP (read-only)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417320" y="5833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43400" y="5559552"/>
            <a:ext cx="0" cy="438912"/>
          </a:xfrm>
          <a:prstGeom prst="line">
            <a:avLst/>
          </a:prstGeom>
          <a:noFill/>
          <a:ln w="9525">
            <a:solidFill>
              <a:srgbClr val="D9D6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5522976"/>
            <a:ext cx="6702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introspection so generated SQL / M is validated against real columns before it ever runs. Optional but cheap insurance.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ln w="12700">
            <a:solidFill>
              <a:srgbClr val="B07D2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50" kern="0" dirty="0">
                <a:solidFill>
                  <a:srgbClr val="E9DC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build nine agents up front. 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i="1" dirty="0">
                <a:solidFill>
                  <a:srgbClr val="D8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Pilot, then industrialize.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~20 representative dashboards (simple, LOD-heavy, blend-heavy, RLS-bearing) through the accelerator first. The measured defect distribution — not the marketing number — tells you which agents earn investment.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20242B"/>
          </a:solidFill>
          <a:ln w="9525">
            <a:solidFill>
              <a:srgbClr val="B07D2B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3840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9DC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4123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1 &amp; 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78992" y="4663440"/>
            <a:ext cx="2871216" cy="0"/>
          </a:xfrm>
          <a:prstGeom prst="line">
            <a:avLst/>
          </a:prstGeom>
          <a:noFill/>
          <a:ln w="9525">
            <a:solidFill>
              <a:srgbClr val="B07D2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47823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defines scope; Validation defines truth. Everything else depends on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9704" y="361188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20242B"/>
          </a:solidFill>
          <a:ln w="9525">
            <a:solidFill>
              <a:srgbClr val="B07D2B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3840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9DC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USUALLY SECOND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45736" y="4123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45736" y="4663440"/>
            <a:ext cx="2871216" cy="0"/>
          </a:xfrm>
          <a:prstGeom prst="line">
            <a:avLst/>
          </a:prstGeom>
          <a:noFill/>
          <a:ln w="9525">
            <a:solidFill>
              <a:srgbClr val="B07D2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47823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→ DAX remediation dominates manual effort in nearly every Tableau estate.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361188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20242B"/>
          </a:solidFill>
          <a:ln w="9525">
            <a:solidFill>
              <a:srgbClr val="B07D2B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3840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9DC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1239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3 &amp; 7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412480" y="4663440"/>
            <a:ext cx="2871216" cy="0"/>
          </a:xfrm>
          <a:prstGeom prst="line">
            <a:avLst/>
          </a:prstGeom>
          <a:noFill/>
          <a:ln w="9525">
            <a:solidFill>
              <a:srgbClr val="B07D2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7823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blend logic and RLS agent only if the pilot shows meaningful usage.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C85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  ·  1 INVENTORY → 2 CONVERT → 3 DATA → 4 MODEL → 5 DAX → 6 LAYOUT → 7 RLS → 8 VALIDATE → 9 SHIP → ↺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to Power BI — Agentic Migration Lifecycle</dc:title>
  <dc:subject>PptxGenJS Presentation</dc:subject>
  <dc:creator>Solution Architecture</dc:creator>
  <cp:lastModifiedBy>Solution Architecture</cp:lastModifiedBy>
  <cp:revision>1</cp:revision>
  <dcterms:created xsi:type="dcterms:W3CDTF">2026-07-15T07:21:19Z</dcterms:created>
  <dcterms:modified xsi:type="dcterms:W3CDTF">2026-07-15T07:21:19Z</dcterms:modified>
</cp:coreProperties>
</file>