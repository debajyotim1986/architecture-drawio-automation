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02160" y="219456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57608" y="219456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456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02160" y="6623913"/>
            <a:ext cx="155448" cy="14630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957608" y="6468465"/>
            <a:ext cx="14630" cy="155448"/>
          </a:xfrm>
          <a:prstGeom prst="rect">
            <a:avLst/>
          </a:prstGeom>
          <a:solidFill>
            <a:srgbClr val="B7C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292608"/>
            <a:ext cx="228600" cy="228600"/>
          </a:xfrm>
          <a:prstGeom prst="roundRect">
            <a:avLst>
              <a:gd name="adj" fmla="val 30000"/>
            </a:avLst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" y="358444"/>
            <a:ext cx="96926" cy="9692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"/>
            <a:ext cx="78638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40">
                <a:solidFill>
                  <a:srgbClr val="1657B0"/>
                </a:solidFill>
                <a:latin typeface="Menlo"/>
              </a:rPr>
              <a:t>ARCHITECTURE COPILOT</a:t>
            </a:r>
            <a:r>
              <a:rPr sz="900" b="0" spc="240">
                <a:solidFill>
                  <a:srgbClr val="93A0B2"/>
                </a:solidFill>
                <a:latin typeface="Menlo"/>
              </a:rPr>
              <a:t>   ·   PROMPT → VERIFIED DRAW.IO DIAGRAM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34095" y="274320"/>
            <a:ext cx="3200400" cy="292608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2D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98687" y="397764"/>
            <a:ext cx="64008" cy="64008"/>
          </a:xfrm>
          <a:prstGeom prst="ellipse">
            <a:avLst/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44991" y="274320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17A"/>
                </a:solidFill>
                <a:latin typeface="Menlo"/>
              </a:rPr>
              <a:t>v1.0   ·   macOS · Linux · 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"/>
            <a:ext cx="11338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-20">
                <a:solidFill>
                  <a:srgbClr val="16202E"/>
                </a:solidFill>
                <a:latin typeface="Helvetica Neue"/>
              </a:rPr>
              <a:t>One sentence in — a </a:t>
            </a:r>
            <a:r>
              <a:rPr sz="2600" b="1" spc="-20">
                <a:solidFill>
                  <a:srgbClr val="1657B0"/>
                </a:solidFill>
                <a:latin typeface="Helvetica Neue"/>
              </a:rPr>
              <a:t>verified architecture diagram</a:t>
            </a:r>
            <a:r>
              <a:rPr sz="2600" b="0" spc="-20">
                <a:solidFill>
                  <a:srgbClr val="16202E"/>
                </a:solidFill>
                <a:latin typeface="Helvetica Neue"/>
              </a:rPr>
              <a:t>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225296"/>
            <a:ext cx="1371600" cy="41148"/>
          </a:xfrm>
          <a:prstGeom prst="roundRect">
            <a:avLst>
              <a:gd name="adj" fmla="val 50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353312"/>
            <a:ext cx="11338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17A"/>
                </a:solidFill>
                <a:latin typeface="Helvetica Neue"/>
              </a:rPr>
              <a:t>A local MCP server turns a plain-English Jira requirement into a deck-quality, governance-checked, fully-documented draw.io diagram — through a single GitHub Copilot Chat prompt, the same way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700784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9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stages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PROMPT → DELIVERY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6749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46477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6477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13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6477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INTENT-LEVEL MCP VERBS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6298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26026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26026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258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icons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6026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OFFICIAL GCP SVGS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5847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05575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5575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2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gates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05575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GUARDRAIL + VERIFIER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75396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5124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5124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14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cols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5124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PER-CONNECTOR CONTRACT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54946" y="1810512"/>
            <a:ext cx="9144" cy="548640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964674" y="1755648"/>
            <a:ext cx="237744" cy="41148"/>
          </a:xfrm>
          <a:prstGeom prst="rect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4674" y="1847088"/>
            <a:ext cx="166009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spc="-30">
                <a:solidFill>
                  <a:srgbClr val="16202E"/>
                </a:solidFill>
                <a:latin typeface="Helvetica Neue"/>
              </a:rPr>
              <a:t>0</a:t>
            </a:r>
            <a:r>
              <a:rPr sz="1000" b="1">
                <a:solidFill>
                  <a:srgbClr val="1657B0"/>
                </a:solidFill>
                <a:latin typeface="Helvetica Neue"/>
              </a:rPr>
              <a:t> 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4674" y="2212848"/>
            <a:ext cx="169666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spc="50">
                <a:solidFill>
                  <a:srgbClr val="93A0B2"/>
                </a:solidFill>
                <a:latin typeface="Helvetica Neue"/>
              </a:rPr>
              <a:t>ENFORCED ON DELIVERY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505456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633472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1657B0"/>
                </a:solidFill>
                <a:latin typeface="Menlo"/>
              </a:rPr>
              <a:t>01</a:t>
            </a:r>
            <a:r>
              <a:rPr sz="1000" b="1" spc="160">
                <a:solidFill>
                  <a:srgbClr val="16202E"/>
                </a:solidFill>
                <a:latin typeface="Menlo"/>
              </a:rPr>
              <a:t>   HIGH-LEVEL FLOW</a:t>
            </a:r>
            <a:r>
              <a:rPr sz="1000" b="0" spc="120">
                <a:solidFill>
                  <a:srgbClr val="93A0B2"/>
                </a:solidFill>
                <a:latin typeface="Menlo"/>
              </a:rPr>
              <a:t>   —   NINE STAGES, PROMPT TO DELIVERY</a:t>
            </a:r>
          </a:p>
        </p:txBody>
      </p:sp>
      <p:sp>
        <p:nvSpPr>
          <p:cNvPr id="45" name="Oval 44"/>
          <p:cNvSpPr/>
          <p:nvPr/>
        </p:nvSpPr>
        <p:spPr>
          <a:xfrm>
            <a:off x="7818120" y="2679191"/>
            <a:ext cx="86868" cy="86868"/>
          </a:xfrm>
          <a:prstGeom prst="ellipse">
            <a:avLst/>
          </a:prstGeom>
          <a:solidFill>
            <a:srgbClr val="6674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80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Human</a:t>
            </a:r>
          </a:p>
        </p:txBody>
      </p:sp>
      <p:sp>
        <p:nvSpPr>
          <p:cNvPr id="47" name="Oval 46"/>
          <p:cNvSpPr/>
          <p:nvPr/>
        </p:nvSpPr>
        <p:spPr>
          <a:xfrm>
            <a:off x="8601395" y="2679191"/>
            <a:ext cx="86868" cy="86868"/>
          </a:xfrm>
          <a:prstGeom prst="ellipse">
            <a:avLst/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38555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Copilot</a:t>
            </a:r>
          </a:p>
        </p:txBody>
      </p:sp>
      <p:sp>
        <p:nvSpPr>
          <p:cNvPr id="49" name="Oval 48"/>
          <p:cNvSpPr/>
          <p:nvPr/>
        </p:nvSpPr>
        <p:spPr>
          <a:xfrm>
            <a:off x="9384670" y="2679191"/>
            <a:ext cx="86868" cy="86868"/>
          </a:xfrm>
          <a:prstGeom prst="ellipse">
            <a:avLst/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21830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Terminal</a:t>
            </a:r>
          </a:p>
        </p:txBody>
      </p:sp>
      <p:sp>
        <p:nvSpPr>
          <p:cNvPr id="51" name="Oval 50"/>
          <p:cNvSpPr/>
          <p:nvPr/>
        </p:nvSpPr>
        <p:spPr>
          <a:xfrm>
            <a:off x="10167945" y="2679191"/>
            <a:ext cx="86868" cy="86868"/>
          </a:xfrm>
          <a:prstGeom prst="ellipse">
            <a:avLst/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05105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MCP</a:t>
            </a:r>
          </a:p>
        </p:txBody>
      </p:sp>
      <p:sp>
        <p:nvSpPr>
          <p:cNvPr id="53" name="Oval 52"/>
          <p:cNvSpPr/>
          <p:nvPr/>
        </p:nvSpPr>
        <p:spPr>
          <a:xfrm>
            <a:off x="10951220" y="2679191"/>
            <a:ext cx="86868" cy="86868"/>
          </a:xfrm>
          <a:prstGeom prst="ellipse">
            <a:avLst/>
          </a:prstGeom>
          <a:solidFill>
            <a:srgbClr val="BF5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8380" y="2633472"/>
            <a:ext cx="6461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Gate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944368"/>
            <a:ext cx="11277295" cy="13167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3716" y="3505809"/>
            <a:ext cx="10024262" cy="10972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18792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71825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24858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77891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30924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3956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6989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90022" y="3406140"/>
            <a:ext cx="182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93A0B2"/>
                </a:solidFill>
                <a:latin typeface="Helvetica Neue"/>
              </a:rPr>
              <a:t>›</a:t>
            </a:r>
          </a:p>
        </p:txBody>
      </p:sp>
      <p:sp>
        <p:nvSpPr>
          <p:cNvPr id="65" name="Oval 64"/>
          <p:cNvSpPr/>
          <p:nvPr/>
        </p:nvSpPr>
        <p:spPr>
          <a:xfrm>
            <a:off x="882548" y="3310128"/>
            <a:ext cx="402336" cy="402336"/>
          </a:xfrm>
          <a:prstGeom prst="ellipse">
            <a:avLst/>
          </a:prstGeom>
          <a:solidFill>
            <a:srgbClr val="667487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28268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2548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776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Input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describe the need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667487"/>
                </a:solidFill>
                <a:latin typeface="Menlo"/>
              </a:rPr>
              <a:t>story.txt</a:t>
            </a:r>
          </a:p>
        </p:txBody>
      </p:sp>
      <p:sp>
        <p:nvSpPr>
          <p:cNvPr id="71" name="Oval 70"/>
          <p:cNvSpPr/>
          <p:nvPr/>
        </p:nvSpPr>
        <p:spPr>
          <a:xfrm>
            <a:off x="2135581" y="3310128"/>
            <a:ext cx="402336" cy="402336"/>
          </a:xfrm>
          <a:prstGeom prst="ellipse">
            <a:avLst/>
          </a:prstGeom>
          <a:solidFill>
            <a:srgbClr val="6E5AA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181301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35581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746808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Route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6808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create vs update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46808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6E5AA6"/>
                </a:solidFill>
                <a:latin typeface="Menlo"/>
              </a:rPr>
              <a:t>copilot rules</a:t>
            </a:r>
          </a:p>
        </p:txBody>
      </p:sp>
      <p:sp>
        <p:nvSpPr>
          <p:cNvPr id="77" name="Oval 76"/>
          <p:cNvSpPr/>
          <p:nvPr/>
        </p:nvSpPr>
        <p:spPr>
          <a:xfrm>
            <a:off x="3388614" y="3310128"/>
            <a:ext cx="402336" cy="402336"/>
          </a:xfrm>
          <a:prstGeom prst="ellipse">
            <a:avLst/>
          </a:prstGeom>
          <a:solidFill>
            <a:srgbClr val="AE752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34333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88614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99841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Normalize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99841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→ surgical brief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99841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AE7526"/>
                </a:solidFill>
                <a:latin typeface="Menlo"/>
              </a:rPr>
              <a:t>normalize.py</a:t>
            </a:r>
          </a:p>
        </p:txBody>
      </p:sp>
      <p:sp>
        <p:nvSpPr>
          <p:cNvPr id="83" name="Oval 82"/>
          <p:cNvSpPr/>
          <p:nvPr/>
        </p:nvSpPr>
        <p:spPr>
          <a:xfrm>
            <a:off x="4641646" y="3310128"/>
            <a:ext cx="402336" cy="40233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87366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1646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52874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Understand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52874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plan components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52874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1657B0"/>
                </a:solidFill>
                <a:latin typeface="Menlo"/>
              </a:rPr>
              <a:t>read_story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69331" y="3026664"/>
            <a:ext cx="12530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spc="80">
                <a:solidFill>
                  <a:srgbClr val="BF515B"/>
                </a:solidFill>
                <a:latin typeface="Menlo"/>
              </a:rPr>
              <a:t>◆ GATE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894679" y="3310128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BF515B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940399" y="3355848"/>
            <a:ext cx="310896" cy="310896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894679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05907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Guardrail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05907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swap restricted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05907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BF515B"/>
                </a:solidFill>
                <a:latin typeface="Menlo"/>
              </a:rPr>
              <a:t>policy · STOP</a:t>
            </a:r>
          </a:p>
        </p:txBody>
      </p:sp>
      <p:sp>
        <p:nvSpPr>
          <p:cNvPr id="96" name="Oval 95"/>
          <p:cNvSpPr/>
          <p:nvPr/>
        </p:nvSpPr>
        <p:spPr>
          <a:xfrm>
            <a:off x="7147712" y="3310128"/>
            <a:ext cx="402336" cy="402336"/>
          </a:xfrm>
          <a:prstGeom prst="ellipse">
            <a:avLst/>
          </a:prstGeom>
          <a:solidFill>
            <a:srgbClr val="1657B0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193432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47712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58940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Build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58940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swimlanes + icons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758940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1657B0"/>
                </a:solidFill>
                <a:latin typeface="Menlo"/>
              </a:rPr>
              <a:t>add_node/edge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75396" y="3026664"/>
            <a:ext cx="12530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spc="80">
                <a:solidFill>
                  <a:srgbClr val="2E8C6A"/>
                </a:solidFill>
                <a:latin typeface="Menlo"/>
              </a:rPr>
              <a:t>◆ GATE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00745" y="3310128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2E8C6A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446465" y="3355848"/>
            <a:ext cx="310896" cy="310896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00745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11972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Verify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11972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exit 2 = no 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11972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2E8C6A"/>
                </a:solidFill>
                <a:latin typeface="Menlo"/>
              </a:rPr>
              <a:t>verify_mcp.py</a:t>
            </a:r>
          </a:p>
        </p:txBody>
      </p:sp>
      <p:sp>
        <p:nvSpPr>
          <p:cNvPr id="109" name="Oval 108"/>
          <p:cNvSpPr/>
          <p:nvPr/>
        </p:nvSpPr>
        <p:spPr>
          <a:xfrm>
            <a:off x="9653778" y="3310128"/>
            <a:ext cx="402336" cy="402336"/>
          </a:xfrm>
          <a:prstGeom prst="ellipse">
            <a:avLst/>
          </a:prstGeom>
          <a:solidFill>
            <a:srgbClr val="AE7526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99498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653778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65005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Document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265005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protocol·auth·SLA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265005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AE7526"/>
                </a:solidFill>
                <a:latin typeface="Menlo"/>
              </a:rPr>
              <a:t>connectors.md</a:t>
            </a:r>
          </a:p>
        </p:txBody>
      </p:sp>
      <p:sp>
        <p:nvSpPr>
          <p:cNvPr id="115" name="Oval 114"/>
          <p:cNvSpPr/>
          <p:nvPr/>
        </p:nvSpPr>
        <p:spPr>
          <a:xfrm>
            <a:off x="10906810" y="3310128"/>
            <a:ext cx="402336" cy="402336"/>
          </a:xfrm>
          <a:prstGeom prst="ellipse">
            <a:avLst/>
          </a:prstGeom>
          <a:solidFill>
            <a:srgbClr val="2E8C6A"/>
          </a:solidFill>
          <a:ln>
            <a:noFill/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952530" y="3355848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906810" y="331012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18038" y="3785616"/>
            <a:ext cx="1179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Deliver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518038" y="3968496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1617A"/>
                </a:solidFill>
                <a:latin typeface="Helvetica Neue"/>
              </a:rPr>
              <a:t>contract on canvas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518038" y="4123944"/>
            <a:ext cx="1179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>
                <a:solidFill>
                  <a:srgbClr val="2E8C6A"/>
                </a:solidFill>
                <a:latin typeface="Menlo"/>
              </a:rPr>
              <a:t>embed table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57200" y="4389120"/>
            <a:ext cx="11277295" cy="10058"/>
          </a:xfrm>
          <a:prstGeom prst="rect">
            <a:avLst/>
          </a:prstGeom>
          <a:solidFill>
            <a:srgbClr val="E7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57200" y="4498848"/>
            <a:ext cx="6537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1657B0"/>
                </a:solidFill>
                <a:latin typeface="Menlo"/>
              </a:rPr>
              <a:t>02</a:t>
            </a:r>
            <a:r>
              <a:rPr sz="1000" b="1" spc="160">
                <a:solidFill>
                  <a:srgbClr val="16202E"/>
                </a:solidFill>
                <a:latin typeface="Menlo"/>
              </a:rPr>
              <a:t>   SYSTEM ARCHITECTURE</a:t>
            </a:r>
            <a:r>
              <a:rPr sz="1000" b="0" spc="120">
                <a:solidFill>
                  <a:srgbClr val="93A0B2"/>
                </a:solidFill>
                <a:latin typeface="Menlo"/>
              </a:rPr>
              <a:t>   —   FIVE-PLANE MCP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7200" y="4773168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57200" y="4773168"/>
            <a:ext cx="68580" cy="288036"/>
          </a:xfrm>
          <a:prstGeom prst="roundRect">
            <a:avLst>
              <a:gd name="adj" fmla="val 50000"/>
            </a:avLst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8368" y="4773168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E5AA6"/>
                </a:solidFill>
                <a:latin typeface="Menlo"/>
              </a:rPr>
              <a:t>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60704" y="4773168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Client / Experience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54680" y="4773168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Copilot Chat in VS Code · any MCP client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7200" y="5111496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457200" y="5111496"/>
            <a:ext cx="68580" cy="288036"/>
          </a:xfrm>
          <a:prstGeom prst="roundRect">
            <a:avLst>
              <a:gd name="adj" fmla="val 50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58368" y="5111496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657B0"/>
                </a:solidFill>
                <a:latin typeface="Menl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" y="5111496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MCP Server Core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154680" y="5111496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stdio JSON-RPC · dispatch registry · config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57200" y="5449824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457200" y="5449824"/>
            <a:ext cx="68580" cy="288036"/>
          </a:xfrm>
          <a:prstGeom prst="roundRect">
            <a:avLst>
              <a:gd name="adj" fmla="val 50000"/>
            </a:avLst>
          </a:prstGeom>
          <a:solidFill>
            <a:srgbClr val="2C7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58368" y="5449824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C7B9B"/>
                </a:solidFill>
                <a:latin typeface="Menlo"/>
              </a:rPr>
              <a:t>03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0704" y="5449824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Tool Layer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154680" y="5449824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13 intent verbs · 5 read-only + 8 mutating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57200" y="5788152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457200" y="5788152"/>
            <a:ext cx="68580" cy="288036"/>
          </a:xfrm>
          <a:prstGeom prst="roundRect">
            <a:avLst>
              <a:gd name="adj" fmla="val 50000"/>
            </a:avLst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8368" y="5788152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E7526"/>
                </a:solidFill>
                <a:latin typeface="Menlo"/>
              </a:rPr>
              <a:t>04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60704" y="5788152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Domain &amp; Rendering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154680" y="5788152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Pydantic model ⇄ mxGraph XML · layout engine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57200" y="6126479"/>
            <a:ext cx="6537960" cy="2880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457200" y="6126479"/>
            <a:ext cx="68580" cy="288036"/>
          </a:xfrm>
          <a:prstGeom prst="roundRect">
            <a:avLst>
              <a:gd name="adj" fmla="val 50000"/>
            </a:avLst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58368" y="6126479"/>
            <a:ext cx="4572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E8C6A"/>
                </a:solidFill>
                <a:latin typeface="Menlo"/>
              </a:rPr>
              <a:t>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0704" y="6126479"/>
            <a:ext cx="21031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Sandboxed Storage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54680" y="6126479"/>
            <a:ext cx="37033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1617A"/>
                </a:solidFill>
                <a:latin typeface="Menlo"/>
              </a:rPr>
              <a:t>path-guarded stores · pluggable 258-icon catalog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315200" y="4498848"/>
            <a:ext cx="44192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00">
                <a:solidFill>
                  <a:srgbClr val="1657B0"/>
                </a:solidFill>
                <a:latin typeface="Menlo"/>
              </a:rPr>
              <a:t>03</a:t>
            </a:r>
            <a:r>
              <a:rPr sz="1000" b="1" spc="160">
                <a:solidFill>
                  <a:srgbClr val="16202E"/>
                </a:solidFill>
                <a:latin typeface="Menlo"/>
              </a:rPr>
              <a:t>   HOW IT HELPS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7315200" y="4773168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7443216" y="4896612"/>
            <a:ext cx="91440" cy="91440"/>
          </a:xfrm>
          <a:prstGeom prst="roundRect">
            <a:avLst>
              <a:gd name="adj" fmla="val 35000"/>
            </a:avLst>
          </a:prstGeom>
          <a:solidFill>
            <a:srgbClr val="165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644383" y="4841748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Hours → minutes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44383" y="5047488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one line → full diagram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588855" y="4773168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716871" y="4896612"/>
            <a:ext cx="91440" cy="91440"/>
          </a:xfrm>
          <a:prstGeom prst="roundRect">
            <a:avLst>
              <a:gd name="adj" fmla="val 35000"/>
            </a:avLst>
          </a:prstGeom>
          <a:solidFill>
            <a:srgbClr val="2C7B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918039" y="4841748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Consistent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918039" y="5047488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same layers, icons, arrows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315200" y="5330952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7443216" y="5454396"/>
            <a:ext cx="91440" cy="91440"/>
          </a:xfrm>
          <a:prstGeom prst="roundRect">
            <a:avLst>
              <a:gd name="adj" fmla="val 35000"/>
            </a:avLst>
          </a:prstGeom>
          <a:solidFill>
            <a:srgbClr val="BF5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644383" y="5399532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Governed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44383" y="5605272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restricted services blocked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588855" y="5330952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716871" y="5454396"/>
            <a:ext cx="91440" cy="91440"/>
          </a:xfrm>
          <a:prstGeom prst="roundRect">
            <a:avLst>
              <a:gd name="adj" fmla="val 35000"/>
            </a:avLst>
          </a:prstGeom>
          <a:solidFill>
            <a:srgbClr val="AE7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918039" y="5399532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Documented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918039" y="5605272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14-col contract · 0 TBD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315200" y="5888736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7443216" y="6012179"/>
            <a:ext cx="91440" cy="91440"/>
          </a:xfrm>
          <a:prstGeom prst="roundRect">
            <a:avLst>
              <a:gd name="adj" fmla="val 35000"/>
            </a:avLst>
          </a:prstGeom>
          <a:solidFill>
            <a:srgbClr val="2E8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644383" y="5957316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Quality-gated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644383" y="6163055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verifier blocks bad output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9588855" y="5888736"/>
            <a:ext cx="2145639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7ECF3"/>
            </a:solidFill>
          </a:ln>
          <a:effectLst>
            <a:outerShdw blurRad="82296" dist="25603" dir="5400000" rotWithShape="0">
              <a:srgbClr val="1B2A40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9716871" y="6012179"/>
            <a:ext cx="91440" cy="91440"/>
          </a:xfrm>
          <a:prstGeom prst="roundRect">
            <a:avLst>
              <a:gd name="adj" fmla="val 35000"/>
            </a:avLst>
          </a:prstGeom>
          <a:solidFill>
            <a:srgbClr val="6E5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918039" y="5957316"/>
            <a:ext cx="174330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202E"/>
                </a:solidFill>
                <a:latin typeface="Helvetica Neue"/>
              </a:rPr>
              <a:t>Reproducible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918039" y="6163055"/>
            <a:ext cx="1743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Helvetica Neue"/>
              </a:rPr>
              <a:t>diagram-as-code · any OS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6455664"/>
            <a:ext cx="11277295" cy="10058"/>
          </a:xfrm>
          <a:prstGeom prst="rect">
            <a:avLst/>
          </a:prstGeom>
          <a:solidFill>
            <a:srgbClr val="D2D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6202E"/>
                </a:solidFill>
                <a:latin typeface="Helvetica Neue"/>
              </a:rPr>
              <a:t>Debajyoti Mukhopadhyay</a:t>
            </a:r>
            <a:r>
              <a:rPr sz="900" b="0">
                <a:solidFill>
                  <a:srgbClr val="93A0B2"/>
                </a:solidFill>
                <a:latin typeface="Helvetica Neue"/>
              </a:rPr>
              <a:t>   ·   Architecture &amp; Tooling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65215" y="6528816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60" b="0">
                <a:solidFill>
                  <a:srgbClr val="51617A"/>
                </a:solidFill>
                <a:latin typeface="Menlo"/>
              </a:rPr>
              <a:t>Python · MCP · Pydantic · mxGraph XML · Copilot · Claude · Vertex AI Agent 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