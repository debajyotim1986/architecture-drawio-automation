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219456"/>
            <a:ext cx="155448" cy="14630"/>
          </a:xfrm>
          <a:prstGeom prst="rect">
            <a:avLst/>
          </a:prstGeom>
          <a:solidFill>
            <a:srgbClr val="B7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" y="219456"/>
            <a:ext cx="14630" cy="155448"/>
          </a:xfrm>
          <a:prstGeom prst="rect">
            <a:avLst/>
          </a:prstGeom>
          <a:solidFill>
            <a:srgbClr val="B7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02160" y="219456"/>
            <a:ext cx="155448" cy="14630"/>
          </a:xfrm>
          <a:prstGeom prst="rect">
            <a:avLst/>
          </a:prstGeom>
          <a:solidFill>
            <a:srgbClr val="B7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57608" y="219456"/>
            <a:ext cx="14630" cy="155448"/>
          </a:xfrm>
          <a:prstGeom prst="rect">
            <a:avLst/>
          </a:prstGeom>
          <a:solidFill>
            <a:srgbClr val="B7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9456" y="6623913"/>
            <a:ext cx="155448" cy="14630"/>
          </a:xfrm>
          <a:prstGeom prst="rect">
            <a:avLst/>
          </a:prstGeom>
          <a:solidFill>
            <a:srgbClr val="B7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9456" y="6468465"/>
            <a:ext cx="14630" cy="155448"/>
          </a:xfrm>
          <a:prstGeom prst="rect">
            <a:avLst/>
          </a:prstGeom>
          <a:solidFill>
            <a:srgbClr val="B7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02160" y="6623913"/>
            <a:ext cx="155448" cy="14630"/>
          </a:xfrm>
          <a:prstGeom prst="rect">
            <a:avLst/>
          </a:prstGeom>
          <a:solidFill>
            <a:srgbClr val="B7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957608" y="6468465"/>
            <a:ext cx="14630" cy="155448"/>
          </a:xfrm>
          <a:prstGeom prst="rect">
            <a:avLst/>
          </a:prstGeom>
          <a:solidFill>
            <a:srgbClr val="B7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92608"/>
            <a:ext cx="228600" cy="228600"/>
          </a:xfrm>
          <a:prstGeom prst="roundRect">
            <a:avLst>
              <a:gd name="adj" fmla="val 30000"/>
            </a:avLst>
          </a:prstGeom>
          <a:solidFill>
            <a:srgbClr val="1657B0"/>
          </a:solidFill>
          <a:ln>
            <a:noFill/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23036" y="358444"/>
            <a:ext cx="96926" cy="9692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240">
                <a:solidFill>
                  <a:srgbClr val="1657B0"/>
                </a:solidFill>
                <a:latin typeface="Menlo"/>
              </a:rPr>
              <a:t>ARCHITECTURE COPILOT</a:t>
            </a:r>
            <a:r>
              <a:rPr sz="900" b="0" spc="240">
                <a:solidFill>
                  <a:srgbClr val="93A0B2"/>
                </a:solidFill>
                <a:latin typeface="Menlo"/>
              </a:rPr>
              <a:t>   ·   PROMPT → VERIFIED DRAW.IO DIAGRAM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34095" y="274320"/>
            <a:ext cx="3200400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2D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98687" y="397764"/>
            <a:ext cx="64008" cy="64008"/>
          </a:xfrm>
          <a:prstGeom prst="ellipse">
            <a:avLst/>
          </a:prstGeom>
          <a:solidFill>
            <a:srgbClr val="2E8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44991" y="274320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1617A"/>
                </a:solidFill>
                <a:latin typeface="Menlo"/>
              </a:rPr>
              <a:t>v1.0   ·   macOS · Linux · Windows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03504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spc="-20">
                <a:solidFill>
                  <a:srgbClr val="16202E"/>
                </a:solidFill>
                <a:latin typeface="Helvetica Neue"/>
              </a:rPr>
              <a:t>One sentence in — a </a:t>
            </a:r>
            <a:r>
              <a:rPr sz="2600" b="1" spc="-20">
                <a:solidFill>
                  <a:srgbClr val="1657B0"/>
                </a:solidFill>
                <a:latin typeface="Helvetica Neue"/>
              </a:rPr>
              <a:t>verified architecture diagram</a:t>
            </a:r>
            <a:r>
              <a:rPr sz="2600" b="0" spc="-20">
                <a:solidFill>
                  <a:srgbClr val="16202E"/>
                </a:solidFill>
                <a:latin typeface="Helvetica Neue"/>
              </a:rPr>
              <a:t> out.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1225296"/>
            <a:ext cx="1371600" cy="41148"/>
          </a:xfrm>
          <a:prstGeom prst="roundRect">
            <a:avLst>
              <a:gd name="adj" fmla="val 50000"/>
            </a:avLst>
          </a:prstGeom>
          <a:solidFill>
            <a:srgbClr val="165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353312"/>
            <a:ext cx="11338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1617A"/>
                </a:solidFill>
                <a:latin typeface="Helvetica Neue"/>
              </a:rPr>
              <a:t>A local MCP server turns a plain-English Jira requirement into a deck-quality, governance-checked, fully-documented draw.io diagram — through a single GitHub Copilot Chat prompt, the same way every time.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700784"/>
            <a:ext cx="11277295" cy="10058"/>
          </a:xfrm>
          <a:prstGeom prst="rect">
            <a:avLst/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1755648"/>
            <a:ext cx="237744" cy="41148"/>
          </a:xfrm>
          <a:prstGeom prst="rect">
            <a:avLst/>
          </a:prstGeom>
          <a:solidFill>
            <a:srgbClr val="165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1847088"/>
            <a:ext cx="166009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spc="-30">
                <a:solidFill>
                  <a:srgbClr val="16202E"/>
                </a:solidFill>
                <a:latin typeface="Helvetica Neue"/>
              </a:rPr>
              <a:t>9</a:t>
            </a:r>
            <a:r>
              <a:rPr sz="1000" b="1">
                <a:solidFill>
                  <a:srgbClr val="1657B0"/>
                </a:solidFill>
                <a:latin typeface="Helvetica Neue"/>
              </a:rPr>
              <a:t> stages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212848"/>
            <a:ext cx="169666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spc="50">
                <a:solidFill>
                  <a:srgbClr val="93A0B2"/>
                </a:solidFill>
                <a:latin typeface="Helvetica Neue"/>
              </a:rPr>
              <a:t>PROMPT → DELIVERY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36749" y="1810512"/>
            <a:ext cx="9144" cy="548640"/>
          </a:xfrm>
          <a:prstGeom prst="rect">
            <a:avLst/>
          </a:prstGeom>
          <a:solidFill>
            <a:srgbClr val="D2D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46477" y="1755648"/>
            <a:ext cx="237744" cy="41148"/>
          </a:xfrm>
          <a:prstGeom prst="rect">
            <a:avLst/>
          </a:prstGeom>
          <a:solidFill>
            <a:srgbClr val="165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46477" y="1847088"/>
            <a:ext cx="166009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spc="-30">
                <a:solidFill>
                  <a:srgbClr val="16202E"/>
                </a:solidFill>
                <a:latin typeface="Helvetica Neue"/>
              </a:rPr>
              <a:t>13</a:t>
            </a:r>
            <a:r>
              <a:rPr sz="1000" b="1">
                <a:solidFill>
                  <a:srgbClr val="1657B0"/>
                </a:solidFill>
                <a:latin typeface="Helvetica Neue"/>
              </a:rPr>
              <a:t> tools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46477" y="2212848"/>
            <a:ext cx="169666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spc="50">
                <a:solidFill>
                  <a:srgbClr val="93A0B2"/>
                </a:solidFill>
                <a:latin typeface="Helvetica Neue"/>
              </a:rPr>
              <a:t>INTENT-LEVEL MCP VERBS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16298" y="1810512"/>
            <a:ext cx="9144" cy="548640"/>
          </a:xfrm>
          <a:prstGeom prst="rect">
            <a:avLst/>
          </a:prstGeom>
          <a:solidFill>
            <a:srgbClr val="D2D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26026" y="1755648"/>
            <a:ext cx="237744" cy="41148"/>
          </a:xfrm>
          <a:prstGeom prst="rect">
            <a:avLst/>
          </a:prstGeom>
          <a:solidFill>
            <a:srgbClr val="165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26026" y="1847088"/>
            <a:ext cx="166009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spc="-30">
                <a:solidFill>
                  <a:srgbClr val="16202E"/>
                </a:solidFill>
                <a:latin typeface="Helvetica Neue"/>
              </a:rPr>
              <a:t>258</a:t>
            </a:r>
            <a:r>
              <a:rPr sz="1000" b="1">
                <a:solidFill>
                  <a:srgbClr val="1657B0"/>
                </a:solidFill>
                <a:latin typeface="Helvetica Neue"/>
              </a:rPr>
              <a:t> icons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26026" y="2212848"/>
            <a:ext cx="169666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spc="50">
                <a:solidFill>
                  <a:srgbClr val="93A0B2"/>
                </a:solidFill>
                <a:latin typeface="Helvetica Neue"/>
              </a:rPr>
              <a:t>OFFICIAL GCP SVGS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5847" y="1810512"/>
            <a:ext cx="9144" cy="548640"/>
          </a:xfrm>
          <a:prstGeom prst="rect">
            <a:avLst/>
          </a:prstGeom>
          <a:solidFill>
            <a:srgbClr val="D2D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05575" y="1755648"/>
            <a:ext cx="237744" cy="41148"/>
          </a:xfrm>
          <a:prstGeom prst="rect">
            <a:avLst/>
          </a:prstGeom>
          <a:solidFill>
            <a:srgbClr val="165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05575" y="1847088"/>
            <a:ext cx="166009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spc="-30">
                <a:solidFill>
                  <a:srgbClr val="16202E"/>
                </a:solidFill>
                <a:latin typeface="Helvetica Neue"/>
              </a:rPr>
              <a:t>2</a:t>
            </a:r>
            <a:r>
              <a:rPr sz="1000" b="1">
                <a:solidFill>
                  <a:srgbClr val="1657B0"/>
                </a:solidFill>
                <a:latin typeface="Helvetica Neue"/>
              </a:rPr>
              <a:t> gates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05575" y="2212848"/>
            <a:ext cx="169666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spc="50">
                <a:solidFill>
                  <a:srgbClr val="93A0B2"/>
                </a:solidFill>
                <a:latin typeface="Helvetica Neue"/>
              </a:rPr>
              <a:t>GUARDRAIL + VERIFIER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75396" y="1810512"/>
            <a:ext cx="9144" cy="548640"/>
          </a:xfrm>
          <a:prstGeom prst="rect">
            <a:avLst/>
          </a:prstGeom>
          <a:solidFill>
            <a:srgbClr val="D2D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85124" y="1755648"/>
            <a:ext cx="237744" cy="41148"/>
          </a:xfrm>
          <a:prstGeom prst="rect">
            <a:avLst/>
          </a:prstGeom>
          <a:solidFill>
            <a:srgbClr val="165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85124" y="1847088"/>
            <a:ext cx="166009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spc="-30">
                <a:solidFill>
                  <a:srgbClr val="16202E"/>
                </a:solidFill>
                <a:latin typeface="Helvetica Neue"/>
              </a:rPr>
              <a:t>14</a:t>
            </a:r>
            <a:r>
              <a:rPr sz="1000" b="1">
                <a:solidFill>
                  <a:srgbClr val="1657B0"/>
                </a:solidFill>
                <a:latin typeface="Helvetica Neue"/>
              </a:rPr>
              <a:t> cols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5124" y="2212848"/>
            <a:ext cx="169666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spc="50">
                <a:solidFill>
                  <a:srgbClr val="93A0B2"/>
                </a:solidFill>
                <a:latin typeface="Helvetica Neue"/>
              </a:rPr>
              <a:t>PER-CONNECTOR CONTRACT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54946" y="1810512"/>
            <a:ext cx="9144" cy="548640"/>
          </a:xfrm>
          <a:prstGeom prst="rect">
            <a:avLst/>
          </a:prstGeom>
          <a:solidFill>
            <a:srgbClr val="D2D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964674" y="1755648"/>
            <a:ext cx="237744" cy="41148"/>
          </a:xfrm>
          <a:prstGeom prst="rect">
            <a:avLst/>
          </a:prstGeom>
          <a:solidFill>
            <a:srgbClr val="165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64674" y="1847088"/>
            <a:ext cx="166009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spc="-30">
                <a:solidFill>
                  <a:srgbClr val="16202E"/>
                </a:solidFill>
                <a:latin typeface="Helvetica Neue"/>
              </a:rPr>
              <a:t>0</a:t>
            </a:r>
            <a:r>
              <a:rPr sz="1000" b="1">
                <a:solidFill>
                  <a:srgbClr val="1657B0"/>
                </a:solidFill>
                <a:latin typeface="Helvetica Neue"/>
              </a:rPr>
              <a:t> TBD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64674" y="2212848"/>
            <a:ext cx="169666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spc="50">
                <a:solidFill>
                  <a:srgbClr val="93A0B2"/>
                </a:solidFill>
                <a:latin typeface="Helvetica Neue"/>
              </a:rPr>
              <a:t>ENFORCED ON DELIVERY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2505456"/>
            <a:ext cx="11277295" cy="10058"/>
          </a:xfrm>
          <a:prstGeom prst="rect">
            <a:avLst/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2633472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100">
                <a:solidFill>
                  <a:srgbClr val="1657B0"/>
                </a:solidFill>
                <a:latin typeface="Menlo"/>
              </a:rPr>
              <a:t>01</a:t>
            </a:r>
            <a:r>
              <a:rPr sz="1000" b="1" spc="160">
                <a:solidFill>
                  <a:srgbClr val="16202E"/>
                </a:solidFill>
                <a:latin typeface="Menlo"/>
              </a:rPr>
              <a:t>   HIGH-LEVEL FLOW</a:t>
            </a:r>
            <a:r>
              <a:rPr sz="1000" b="0" spc="120">
                <a:solidFill>
                  <a:srgbClr val="93A0B2"/>
                </a:solidFill>
                <a:latin typeface="Menlo"/>
              </a:rPr>
              <a:t>   —   NINE STAGES, PROMPT TO DELIVERY</a:t>
            </a:r>
          </a:p>
        </p:txBody>
      </p:sp>
      <p:sp>
        <p:nvSpPr>
          <p:cNvPr id="45" name="Oval 44"/>
          <p:cNvSpPr/>
          <p:nvPr/>
        </p:nvSpPr>
        <p:spPr>
          <a:xfrm>
            <a:off x="7818120" y="2679191"/>
            <a:ext cx="86868" cy="86868"/>
          </a:xfrm>
          <a:prstGeom prst="ellipse">
            <a:avLst/>
          </a:prstGeom>
          <a:solidFill>
            <a:srgbClr val="6674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55280" y="2633472"/>
            <a:ext cx="6461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1617A"/>
                </a:solidFill>
                <a:latin typeface="Menlo"/>
              </a:rPr>
              <a:t>Human</a:t>
            </a:r>
          </a:p>
        </p:txBody>
      </p:sp>
      <p:sp>
        <p:nvSpPr>
          <p:cNvPr id="47" name="Oval 46"/>
          <p:cNvSpPr/>
          <p:nvPr/>
        </p:nvSpPr>
        <p:spPr>
          <a:xfrm>
            <a:off x="8601395" y="2679191"/>
            <a:ext cx="86868" cy="86868"/>
          </a:xfrm>
          <a:prstGeom prst="ellipse">
            <a:avLst/>
          </a:prstGeom>
          <a:solidFill>
            <a:srgbClr val="6E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38555" y="2633472"/>
            <a:ext cx="6461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1617A"/>
                </a:solidFill>
                <a:latin typeface="Menlo"/>
              </a:rPr>
              <a:t>Copilot</a:t>
            </a:r>
          </a:p>
        </p:txBody>
      </p:sp>
      <p:sp>
        <p:nvSpPr>
          <p:cNvPr id="49" name="Oval 48"/>
          <p:cNvSpPr/>
          <p:nvPr/>
        </p:nvSpPr>
        <p:spPr>
          <a:xfrm>
            <a:off x="9384670" y="2679191"/>
            <a:ext cx="86868" cy="86868"/>
          </a:xfrm>
          <a:prstGeom prst="ellipse">
            <a:avLst/>
          </a:prstGeom>
          <a:solidFill>
            <a:srgbClr val="AE7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21830" y="2633472"/>
            <a:ext cx="6461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1617A"/>
                </a:solidFill>
                <a:latin typeface="Menlo"/>
              </a:rPr>
              <a:t>Terminal</a:t>
            </a:r>
          </a:p>
        </p:txBody>
      </p:sp>
      <p:sp>
        <p:nvSpPr>
          <p:cNvPr id="51" name="Oval 50"/>
          <p:cNvSpPr/>
          <p:nvPr/>
        </p:nvSpPr>
        <p:spPr>
          <a:xfrm>
            <a:off x="10167945" y="2679191"/>
            <a:ext cx="86868" cy="86868"/>
          </a:xfrm>
          <a:prstGeom prst="ellipse">
            <a:avLst/>
          </a:prstGeom>
          <a:solidFill>
            <a:srgbClr val="165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05105" y="2633472"/>
            <a:ext cx="6461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1617A"/>
                </a:solidFill>
                <a:latin typeface="Menlo"/>
              </a:rPr>
              <a:t>MCP</a:t>
            </a:r>
          </a:p>
        </p:txBody>
      </p:sp>
      <p:sp>
        <p:nvSpPr>
          <p:cNvPr id="53" name="Oval 52"/>
          <p:cNvSpPr/>
          <p:nvPr/>
        </p:nvSpPr>
        <p:spPr>
          <a:xfrm>
            <a:off x="10951220" y="2679191"/>
            <a:ext cx="86868" cy="86868"/>
          </a:xfrm>
          <a:prstGeom prst="ellipse">
            <a:avLst/>
          </a:prstGeom>
          <a:solidFill>
            <a:srgbClr val="BF5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088380" y="2633472"/>
            <a:ext cx="6461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1617A"/>
                </a:solidFill>
                <a:latin typeface="Menlo"/>
              </a:rPr>
              <a:t>Gate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2944368"/>
            <a:ext cx="11277295" cy="13167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7ECF3"/>
            </a:solidFill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83716" y="3505809"/>
            <a:ext cx="10024262" cy="10972"/>
          </a:xfrm>
          <a:prstGeom prst="rect">
            <a:avLst/>
          </a:prstGeom>
          <a:solidFill>
            <a:srgbClr val="D2D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618792" y="3406140"/>
            <a:ext cx="1828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3A0B2"/>
                </a:solidFill>
                <a:latin typeface="Helvetica Neue"/>
              </a:rPr>
              <a:t>›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71825" y="3406140"/>
            <a:ext cx="1828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3A0B2"/>
                </a:solidFill>
                <a:latin typeface="Helvetica Neue"/>
              </a:rPr>
              <a:t>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24858" y="3406140"/>
            <a:ext cx="1828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3A0B2"/>
                </a:solidFill>
                <a:latin typeface="Helvetica Neue"/>
              </a:rPr>
              <a:t>›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77891" y="3406140"/>
            <a:ext cx="1828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3A0B2"/>
                </a:solidFill>
                <a:latin typeface="Helvetica Neue"/>
              </a:rPr>
              <a:t>›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30924" y="3406140"/>
            <a:ext cx="1828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3A0B2"/>
                </a:solidFill>
                <a:latin typeface="Helvetica Neue"/>
              </a:rPr>
              <a:t>›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83956" y="3406140"/>
            <a:ext cx="1828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3A0B2"/>
                </a:solidFill>
                <a:latin typeface="Helvetica Neue"/>
              </a:rPr>
              <a:t>›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36989" y="3406140"/>
            <a:ext cx="1828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3A0B2"/>
                </a:solidFill>
                <a:latin typeface="Helvetica Neue"/>
              </a:rPr>
              <a:t>›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90022" y="3406140"/>
            <a:ext cx="1828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3A0B2"/>
                </a:solidFill>
                <a:latin typeface="Helvetica Neue"/>
              </a:rPr>
              <a:t>›</a:t>
            </a:r>
          </a:p>
        </p:txBody>
      </p:sp>
      <p:sp>
        <p:nvSpPr>
          <p:cNvPr id="65" name="Oval 64"/>
          <p:cNvSpPr/>
          <p:nvPr/>
        </p:nvSpPr>
        <p:spPr>
          <a:xfrm>
            <a:off x="882548" y="3310128"/>
            <a:ext cx="402336" cy="402336"/>
          </a:xfrm>
          <a:prstGeom prst="ellipse">
            <a:avLst/>
          </a:prstGeom>
          <a:solidFill>
            <a:srgbClr val="667487"/>
          </a:solidFill>
          <a:ln>
            <a:noFill/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28268" y="3355848"/>
            <a:ext cx="310896" cy="310896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82548" y="3310128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93776" y="3785616"/>
            <a:ext cx="1179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6202E"/>
                </a:solidFill>
                <a:latin typeface="Helvetica Neue"/>
              </a:rPr>
              <a:t>Input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93776" y="3968496"/>
            <a:ext cx="1179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>
                <a:solidFill>
                  <a:srgbClr val="51617A"/>
                </a:solidFill>
                <a:latin typeface="Helvetica Neue"/>
              </a:rPr>
              <a:t>describe the need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3776" y="4123944"/>
            <a:ext cx="1179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0">
                <a:solidFill>
                  <a:srgbClr val="667487"/>
                </a:solidFill>
                <a:latin typeface="Menlo"/>
              </a:rPr>
              <a:t>story.txt</a:t>
            </a:r>
          </a:p>
        </p:txBody>
      </p:sp>
      <p:sp>
        <p:nvSpPr>
          <p:cNvPr id="71" name="Oval 70"/>
          <p:cNvSpPr/>
          <p:nvPr/>
        </p:nvSpPr>
        <p:spPr>
          <a:xfrm>
            <a:off x="2135581" y="3310128"/>
            <a:ext cx="402336" cy="402336"/>
          </a:xfrm>
          <a:prstGeom prst="ellipse">
            <a:avLst/>
          </a:prstGeom>
          <a:solidFill>
            <a:srgbClr val="6E5AA6"/>
          </a:solidFill>
          <a:ln>
            <a:noFill/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181301" y="3355848"/>
            <a:ext cx="310896" cy="310896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35581" y="3310128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746808" y="3785616"/>
            <a:ext cx="1179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6202E"/>
                </a:solidFill>
                <a:latin typeface="Helvetica Neue"/>
              </a:rPr>
              <a:t>Route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746808" y="3968496"/>
            <a:ext cx="1179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>
                <a:solidFill>
                  <a:srgbClr val="51617A"/>
                </a:solidFill>
                <a:latin typeface="Helvetica Neue"/>
              </a:rPr>
              <a:t>create vs update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46808" y="4123944"/>
            <a:ext cx="1179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0">
                <a:solidFill>
                  <a:srgbClr val="6E5AA6"/>
                </a:solidFill>
                <a:latin typeface="Menlo"/>
              </a:rPr>
              <a:t>copilot rules</a:t>
            </a:r>
          </a:p>
        </p:txBody>
      </p:sp>
      <p:sp>
        <p:nvSpPr>
          <p:cNvPr id="77" name="Oval 76"/>
          <p:cNvSpPr/>
          <p:nvPr/>
        </p:nvSpPr>
        <p:spPr>
          <a:xfrm>
            <a:off x="3388614" y="3310128"/>
            <a:ext cx="402336" cy="402336"/>
          </a:xfrm>
          <a:prstGeom prst="ellipse">
            <a:avLst/>
          </a:prstGeom>
          <a:solidFill>
            <a:srgbClr val="AE7526"/>
          </a:solidFill>
          <a:ln>
            <a:noFill/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434333" y="3355848"/>
            <a:ext cx="310896" cy="310896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388614" y="3310128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999841" y="3785616"/>
            <a:ext cx="1179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6202E"/>
                </a:solidFill>
                <a:latin typeface="Helvetica Neue"/>
              </a:rPr>
              <a:t>Normalize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99841" y="3968496"/>
            <a:ext cx="1179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>
                <a:solidFill>
                  <a:srgbClr val="51617A"/>
                </a:solidFill>
                <a:latin typeface="Helvetica Neue"/>
              </a:rPr>
              <a:t>→ surgical brief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999841" y="4123944"/>
            <a:ext cx="1179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0">
                <a:solidFill>
                  <a:srgbClr val="AE7526"/>
                </a:solidFill>
                <a:latin typeface="Menlo"/>
              </a:rPr>
              <a:t>normalize.py</a:t>
            </a:r>
          </a:p>
        </p:txBody>
      </p:sp>
      <p:sp>
        <p:nvSpPr>
          <p:cNvPr id="83" name="Oval 82"/>
          <p:cNvSpPr/>
          <p:nvPr/>
        </p:nvSpPr>
        <p:spPr>
          <a:xfrm>
            <a:off x="4641646" y="3310128"/>
            <a:ext cx="402336" cy="402336"/>
          </a:xfrm>
          <a:prstGeom prst="ellipse">
            <a:avLst/>
          </a:prstGeom>
          <a:solidFill>
            <a:srgbClr val="1657B0"/>
          </a:solidFill>
          <a:ln>
            <a:noFill/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4687366" y="3355848"/>
            <a:ext cx="310896" cy="310896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641646" y="3310128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252874" y="3785616"/>
            <a:ext cx="1179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6202E"/>
                </a:solidFill>
                <a:latin typeface="Helvetica Neue"/>
              </a:rPr>
              <a:t>Understand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252874" y="3968496"/>
            <a:ext cx="1179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>
                <a:solidFill>
                  <a:srgbClr val="51617A"/>
                </a:solidFill>
                <a:latin typeface="Helvetica Neue"/>
              </a:rPr>
              <a:t>plan components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252874" y="4123944"/>
            <a:ext cx="1179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0">
                <a:solidFill>
                  <a:srgbClr val="1657B0"/>
                </a:solidFill>
                <a:latin typeface="Menlo"/>
              </a:rPr>
              <a:t>read_story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469331" y="3026664"/>
            <a:ext cx="125303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spc="80">
                <a:solidFill>
                  <a:srgbClr val="BF515B"/>
                </a:solidFill>
                <a:latin typeface="Menlo"/>
              </a:rPr>
              <a:t>◆ GATE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894679" y="3310128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BF515B"/>
          </a:solidFill>
          <a:ln>
            <a:noFill/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5940399" y="3355848"/>
            <a:ext cx="310896" cy="310896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894679" y="3310128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505907" y="3785616"/>
            <a:ext cx="1179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6202E"/>
                </a:solidFill>
                <a:latin typeface="Helvetica Neue"/>
              </a:rPr>
              <a:t>Guardrail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505907" y="3968496"/>
            <a:ext cx="1179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>
                <a:solidFill>
                  <a:srgbClr val="51617A"/>
                </a:solidFill>
                <a:latin typeface="Helvetica Neue"/>
              </a:rPr>
              <a:t>swap restricted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505907" y="4123944"/>
            <a:ext cx="1179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0">
                <a:solidFill>
                  <a:srgbClr val="BF515B"/>
                </a:solidFill>
                <a:latin typeface="Menlo"/>
              </a:rPr>
              <a:t>policy · STOP</a:t>
            </a:r>
          </a:p>
        </p:txBody>
      </p:sp>
      <p:sp>
        <p:nvSpPr>
          <p:cNvPr id="96" name="Oval 95"/>
          <p:cNvSpPr/>
          <p:nvPr/>
        </p:nvSpPr>
        <p:spPr>
          <a:xfrm>
            <a:off x="7147712" y="3310128"/>
            <a:ext cx="402336" cy="402336"/>
          </a:xfrm>
          <a:prstGeom prst="ellipse">
            <a:avLst/>
          </a:prstGeom>
          <a:solidFill>
            <a:srgbClr val="1657B0"/>
          </a:solidFill>
          <a:ln>
            <a:noFill/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7193432" y="3355848"/>
            <a:ext cx="310896" cy="310896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147712" y="3310128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6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758940" y="3785616"/>
            <a:ext cx="1179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6202E"/>
                </a:solidFill>
                <a:latin typeface="Helvetica Neue"/>
              </a:rPr>
              <a:t>Build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758940" y="3968496"/>
            <a:ext cx="1179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>
                <a:solidFill>
                  <a:srgbClr val="51617A"/>
                </a:solidFill>
                <a:latin typeface="Helvetica Neue"/>
              </a:rPr>
              <a:t>swimlanes + icons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758940" y="4123944"/>
            <a:ext cx="1179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0">
                <a:solidFill>
                  <a:srgbClr val="1657B0"/>
                </a:solidFill>
                <a:latin typeface="Menlo"/>
              </a:rPr>
              <a:t>add_node/edge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975396" y="3026664"/>
            <a:ext cx="125303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spc="80">
                <a:solidFill>
                  <a:srgbClr val="2E8C6A"/>
                </a:solidFill>
                <a:latin typeface="Menlo"/>
              </a:rPr>
              <a:t>◆ GATE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400745" y="3310128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2E8C6A"/>
          </a:solidFill>
          <a:ln>
            <a:noFill/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8446465" y="3355848"/>
            <a:ext cx="310896" cy="310896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400745" y="3310128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7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011972" y="3785616"/>
            <a:ext cx="1179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6202E"/>
                </a:solidFill>
                <a:latin typeface="Helvetica Neue"/>
              </a:rPr>
              <a:t>Verify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11972" y="3968496"/>
            <a:ext cx="1179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>
                <a:solidFill>
                  <a:srgbClr val="51617A"/>
                </a:solidFill>
                <a:latin typeface="Helvetica Neue"/>
              </a:rPr>
              <a:t>exit 2 = no ship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011972" y="4123944"/>
            <a:ext cx="1179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0">
                <a:solidFill>
                  <a:srgbClr val="2E8C6A"/>
                </a:solidFill>
                <a:latin typeface="Menlo"/>
              </a:rPr>
              <a:t>verify_mcp.py</a:t>
            </a:r>
          </a:p>
        </p:txBody>
      </p:sp>
      <p:sp>
        <p:nvSpPr>
          <p:cNvPr id="109" name="Oval 108"/>
          <p:cNvSpPr/>
          <p:nvPr/>
        </p:nvSpPr>
        <p:spPr>
          <a:xfrm>
            <a:off x="9653778" y="3310128"/>
            <a:ext cx="402336" cy="402336"/>
          </a:xfrm>
          <a:prstGeom prst="ellipse">
            <a:avLst/>
          </a:prstGeom>
          <a:solidFill>
            <a:srgbClr val="AE7526"/>
          </a:solidFill>
          <a:ln>
            <a:noFill/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9699498" y="3355848"/>
            <a:ext cx="310896" cy="310896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653778" y="3310128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8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265005" y="3785616"/>
            <a:ext cx="1179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6202E"/>
                </a:solidFill>
                <a:latin typeface="Helvetica Neue"/>
              </a:rPr>
              <a:t>Document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265005" y="3968496"/>
            <a:ext cx="1179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>
                <a:solidFill>
                  <a:srgbClr val="51617A"/>
                </a:solidFill>
                <a:latin typeface="Helvetica Neue"/>
              </a:rPr>
              <a:t>protocol·auth·SLA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265005" y="4123944"/>
            <a:ext cx="1179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0">
                <a:solidFill>
                  <a:srgbClr val="AE7526"/>
                </a:solidFill>
                <a:latin typeface="Menlo"/>
              </a:rPr>
              <a:t>connectors.md</a:t>
            </a:r>
          </a:p>
        </p:txBody>
      </p:sp>
      <p:sp>
        <p:nvSpPr>
          <p:cNvPr id="115" name="Oval 114"/>
          <p:cNvSpPr/>
          <p:nvPr/>
        </p:nvSpPr>
        <p:spPr>
          <a:xfrm>
            <a:off x="10906810" y="3310128"/>
            <a:ext cx="402336" cy="402336"/>
          </a:xfrm>
          <a:prstGeom prst="ellipse">
            <a:avLst/>
          </a:prstGeom>
          <a:solidFill>
            <a:srgbClr val="2E8C6A"/>
          </a:solidFill>
          <a:ln>
            <a:noFill/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952530" y="3355848"/>
            <a:ext cx="310896" cy="310896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906810" y="3310128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9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518038" y="3785616"/>
            <a:ext cx="1179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6202E"/>
                </a:solidFill>
                <a:latin typeface="Helvetica Neue"/>
              </a:rPr>
              <a:t>Deliver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518038" y="3968496"/>
            <a:ext cx="1179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>
                <a:solidFill>
                  <a:srgbClr val="51617A"/>
                </a:solidFill>
                <a:latin typeface="Helvetica Neue"/>
              </a:rPr>
              <a:t>contract on canvas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518038" y="4123944"/>
            <a:ext cx="1179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0">
                <a:solidFill>
                  <a:srgbClr val="2E8C6A"/>
                </a:solidFill>
                <a:latin typeface="Menlo"/>
              </a:rPr>
              <a:t>embed table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57200" y="4389120"/>
            <a:ext cx="11277295" cy="10058"/>
          </a:xfrm>
          <a:prstGeom prst="rect">
            <a:avLst/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57200" y="4498848"/>
            <a:ext cx="6537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100">
                <a:solidFill>
                  <a:srgbClr val="1657B0"/>
                </a:solidFill>
                <a:latin typeface="Menlo"/>
              </a:rPr>
              <a:t>02</a:t>
            </a:r>
            <a:r>
              <a:rPr sz="1000" b="1" spc="160">
                <a:solidFill>
                  <a:srgbClr val="16202E"/>
                </a:solidFill>
                <a:latin typeface="Menlo"/>
              </a:rPr>
              <a:t>   SYSTEM ARCHITECTURE</a:t>
            </a:r>
            <a:r>
              <a:rPr sz="1000" b="0" spc="120">
                <a:solidFill>
                  <a:srgbClr val="93A0B2"/>
                </a:solidFill>
                <a:latin typeface="Menlo"/>
              </a:rPr>
              <a:t>   —   FIVE-PLANE MCP SERVER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457200" y="4773168"/>
            <a:ext cx="6537960" cy="2880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CF3"/>
            </a:solidFill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457200" y="4773168"/>
            <a:ext cx="68580" cy="288036"/>
          </a:xfrm>
          <a:prstGeom prst="roundRect">
            <a:avLst>
              <a:gd name="adj" fmla="val 50000"/>
            </a:avLst>
          </a:prstGeom>
          <a:solidFill>
            <a:srgbClr val="6E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58368" y="4773168"/>
            <a:ext cx="4572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E5AA6"/>
                </a:solidFill>
                <a:latin typeface="Menlo"/>
              </a:rPr>
              <a:t>01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60704" y="4773168"/>
            <a:ext cx="21031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6202E"/>
                </a:solidFill>
                <a:latin typeface="Helvetica Neue"/>
              </a:rPr>
              <a:t>Client / Experience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154680" y="4773168"/>
            <a:ext cx="37033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1617A"/>
                </a:solidFill>
                <a:latin typeface="Menlo"/>
              </a:rPr>
              <a:t>Copilot Chat in VS Code · any MCP client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57200" y="5111496"/>
            <a:ext cx="6537960" cy="2880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CF3"/>
            </a:solidFill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457200" y="5111496"/>
            <a:ext cx="68580" cy="288036"/>
          </a:xfrm>
          <a:prstGeom prst="roundRect">
            <a:avLst>
              <a:gd name="adj" fmla="val 50000"/>
            </a:avLst>
          </a:prstGeom>
          <a:solidFill>
            <a:srgbClr val="165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58368" y="5111496"/>
            <a:ext cx="4572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657B0"/>
                </a:solidFill>
                <a:latin typeface="Menlo"/>
              </a:rPr>
              <a:t>02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60704" y="5111496"/>
            <a:ext cx="21031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6202E"/>
                </a:solidFill>
                <a:latin typeface="Helvetica Neue"/>
              </a:rPr>
              <a:t>MCP Server Core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154680" y="5111496"/>
            <a:ext cx="37033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1617A"/>
                </a:solidFill>
                <a:latin typeface="Menlo"/>
              </a:rPr>
              <a:t>stdio JSON-RPC · dispatch registry · config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457200" y="5449824"/>
            <a:ext cx="6537960" cy="2880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CF3"/>
            </a:solidFill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457200" y="5449824"/>
            <a:ext cx="68580" cy="288036"/>
          </a:xfrm>
          <a:prstGeom prst="roundRect">
            <a:avLst>
              <a:gd name="adj" fmla="val 50000"/>
            </a:avLst>
          </a:prstGeom>
          <a:solidFill>
            <a:srgbClr val="2C7B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58368" y="5449824"/>
            <a:ext cx="4572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C7B9B"/>
                </a:solidFill>
                <a:latin typeface="Menlo"/>
              </a:rPr>
              <a:t>03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60704" y="5449824"/>
            <a:ext cx="21031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6202E"/>
                </a:solidFill>
                <a:latin typeface="Helvetica Neue"/>
              </a:rPr>
              <a:t>Tool Layer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154680" y="5449824"/>
            <a:ext cx="37033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1617A"/>
                </a:solidFill>
                <a:latin typeface="Menlo"/>
              </a:rPr>
              <a:t>13 intent verbs · 5 read-only + 8 mutating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457200" y="5788152"/>
            <a:ext cx="6537960" cy="2880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CF3"/>
            </a:solidFill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457200" y="5788152"/>
            <a:ext cx="68580" cy="288036"/>
          </a:xfrm>
          <a:prstGeom prst="roundRect">
            <a:avLst>
              <a:gd name="adj" fmla="val 50000"/>
            </a:avLst>
          </a:prstGeom>
          <a:solidFill>
            <a:srgbClr val="AE7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58368" y="5788152"/>
            <a:ext cx="4572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AE7526"/>
                </a:solidFill>
                <a:latin typeface="Menlo"/>
              </a:rPr>
              <a:t>04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60704" y="5788152"/>
            <a:ext cx="21031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6202E"/>
                </a:solidFill>
                <a:latin typeface="Helvetica Neue"/>
              </a:rPr>
              <a:t>Domain &amp; Rendering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154680" y="5788152"/>
            <a:ext cx="37033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1617A"/>
                </a:solidFill>
                <a:latin typeface="Menlo"/>
              </a:rPr>
              <a:t>Pydantic model ⇄ mxGraph XML · layout engine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457200" y="6126479"/>
            <a:ext cx="6537960" cy="2880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E7ECF3"/>
            </a:solidFill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457200" y="6126479"/>
            <a:ext cx="68580" cy="288036"/>
          </a:xfrm>
          <a:prstGeom prst="roundRect">
            <a:avLst>
              <a:gd name="adj" fmla="val 50000"/>
            </a:avLst>
          </a:prstGeom>
          <a:solidFill>
            <a:srgbClr val="2E8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58368" y="6126479"/>
            <a:ext cx="4572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8C6A"/>
                </a:solidFill>
                <a:latin typeface="Menlo"/>
              </a:rPr>
              <a:t>05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60704" y="6126479"/>
            <a:ext cx="21031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6202E"/>
                </a:solidFill>
                <a:latin typeface="Helvetica Neue"/>
              </a:rPr>
              <a:t>Sandboxed Storage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154680" y="6126479"/>
            <a:ext cx="37033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1617A"/>
                </a:solidFill>
                <a:latin typeface="Menlo"/>
              </a:rPr>
              <a:t>path-guarded stores · pluggable 258-icon catalog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315200" y="4498848"/>
            <a:ext cx="44192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100">
                <a:solidFill>
                  <a:srgbClr val="1657B0"/>
                </a:solidFill>
                <a:latin typeface="Menlo"/>
              </a:rPr>
              <a:t>03</a:t>
            </a:r>
            <a:r>
              <a:rPr sz="1000" b="1" spc="160">
                <a:solidFill>
                  <a:srgbClr val="16202E"/>
                </a:solidFill>
                <a:latin typeface="Menlo"/>
              </a:rPr>
              <a:t>   HOW IT HELPS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7315200" y="4773168"/>
            <a:ext cx="2145639" cy="502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1430">
            <a:solidFill>
              <a:srgbClr val="E7ECF3"/>
            </a:solidFill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7443216" y="4896612"/>
            <a:ext cx="91440" cy="91440"/>
          </a:xfrm>
          <a:prstGeom prst="roundRect">
            <a:avLst>
              <a:gd name="adj" fmla="val 35000"/>
            </a:avLst>
          </a:prstGeom>
          <a:solidFill>
            <a:srgbClr val="165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7644383" y="4841748"/>
            <a:ext cx="174330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6202E"/>
                </a:solidFill>
                <a:latin typeface="Helvetica Neue"/>
              </a:rPr>
              <a:t>Hours → minutes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644383" y="5047488"/>
            <a:ext cx="17433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51617A"/>
                </a:solidFill>
                <a:latin typeface="Helvetica Neue"/>
              </a:rPr>
              <a:t>one line → full diagram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9588855" y="4773168"/>
            <a:ext cx="2145639" cy="502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1430">
            <a:solidFill>
              <a:srgbClr val="E7ECF3"/>
            </a:solidFill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9716871" y="4896612"/>
            <a:ext cx="91440" cy="91440"/>
          </a:xfrm>
          <a:prstGeom prst="roundRect">
            <a:avLst>
              <a:gd name="adj" fmla="val 35000"/>
            </a:avLst>
          </a:prstGeom>
          <a:solidFill>
            <a:srgbClr val="2C7B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9918039" y="4841748"/>
            <a:ext cx="174330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6202E"/>
                </a:solidFill>
                <a:latin typeface="Helvetica Neue"/>
              </a:rPr>
              <a:t>Consistent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918039" y="5047488"/>
            <a:ext cx="17433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51617A"/>
                </a:solidFill>
                <a:latin typeface="Helvetica Neue"/>
              </a:rPr>
              <a:t>same layers, icons, arrows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7315200" y="5330952"/>
            <a:ext cx="2145639" cy="502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1430">
            <a:solidFill>
              <a:srgbClr val="E7ECF3"/>
            </a:solidFill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7443216" y="5454396"/>
            <a:ext cx="91440" cy="91440"/>
          </a:xfrm>
          <a:prstGeom prst="roundRect">
            <a:avLst>
              <a:gd name="adj" fmla="val 35000"/>
            </a:avLst>
          </a:prstGeom>
          <a:solidFill>
            <a:srgbClr val="BF5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644383" y="5399532"/>
            <a:ext cx="174330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6202E"/>
                </a:solidFill>
                <a:latin typeface="Helvetica Neue"/>
              </a:rPr>
              <a:t>Governed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644383" y="5605272"/>
            <a:ext cx="17433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51617A"/>
                </a:solidFill>
                <a:latin typeface="Helvetica Neue"/>
              </a:rPr>
              <a:t>restricted services blocked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9588855" y="5330952"/>
            <a:ext cx="2145639" cy="502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1430">
            <a:solidFill>
              <a:srgbClr val="E7ECF3"/>
            </a:solidFill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ounded Rectangle 161"/>
          <p:cNvSpPr/>
          <p:nvPr/>
        </p:nvSpPr>
        <p:spPr>
          <a:xfrm>
            <a:off x="9716871" y="5454396"/>
            <a:ext cx="91440" cy="91440"/>
          </a:xfrm>
          <a:prstGeom prst="roundRect">
            <a:avLst>
              <a:gd name="adj" fmla="val 35000"/>
            </a:avLst>
          </a:prstGeom>
          <a:solidFill>
            <a:srgbClr val="AE7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9918039" y="5399532"/>
            <a:ext cx="174330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6202E"/>
                </a:solidFill>
                <a:latin typeface="Helvetica Neue"/>
              </a:rPr>
              <a:t>Documented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918039" y="5605272"/>
            <a:ext cx="17433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51617A"/>
                </a:solidFill>
                <a:latin typeface="Helvetica Neue"/>
              </a:rPr>
              <a:t>14-col contract · 0 TBD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7315200" y="5888736"/>
            <a:ext cx="2145639" cy="502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1430">
            <a:solidFill>
              <a:srgbClr val="E7ECF3"/>
            </a:solidFill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ounded Rectangle 165"/>
          <p:cNvSpPr/>
          <p:nvPr/>
        </p:nvSpPr>
        <p:spPr>
          <a:xfrm>
            <a:off x="7443216" y="6012179"/>
            <a:ext cx="91440" cy="91440"/>
          </a:xfrm>
          <a:prstGeom prst="roundRect">
            <a:avLst>
              <a:gd name="adj" fmla="val 35000"/>
            </a:avLst>
          </a:prstGeom>
          <a:solidFill>
            <a:srgbClr val="2E8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7644383" y="5957316"/>
            <a:ext cx="174330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6202E"/>
                </a:solidFill>
                <a:latin typeface="Helvetica Neue"/>
              </a:rPr>
              <a:t>Quality-gated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644383" y="6163055"/>
            <a:ext cx="17433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51617A"/>
                </a:solidFill>
                <a:latin typeface="Helvetica Neue"/>
              </a:rPr>
              <a:t>verifier blocks bad output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9588855" y="5888736"/>
            <a:ext cx="2145639" cy="502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1430">
            <a:solidFill>
              <a:srgbClr val="E7ECF3"/>
            </a:solidFill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ounded Rectangle 169"/>
          <p:cNvSpPr/>
          <p:nvPr/>
        </p:nvSpPr>
        <p:spPr>
          <a:xfrm>
            <a:off x="9716871" y="6012179"/>
            <a:ext cx="91440" cy="91440"/>
          </a:xfrm>
          <a:prstGeom prst="roundRect">
            <a:avLst>
              <a:gd name="adj" fmla="val 35000"/>
            </a:avLst>
          </a:prstGeom>
          <a:solidFill>
            <a:srgbClr val="6E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9918039" y="5957316"/>
            <a:ext cx="174330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6202E"/>
                </a:solidFill>
                <a:latin typeface="Helvetica Neue"/>
              </a:rPr>
              <a:t>Reproducible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918039" y="6163055"/>
            <a:ext cx="17433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51617A"/>
                </a:solidFill>
                <a:latin typeface="Helvetica Neue"/>
              </a:rPr>
              <a:t>diagram-as-code · any OS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457200" y="6455664"/>
            <a:ext cx="11277295" cy="10058"/>
          </a:xfrm>
          <a:prstGeom prst="rect">
            <a:avLst/>
          </a:prstGeom>
          <a:solidFill>
            <a:srgbClr val="D2D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6202E"/>
                </a:solidFill>
                <a:latin typeface="Helvetica Neue"/>
              </a:rPr>
              <a:t>Debajyoti Mukhopadhyay</a:t>
            </a:r>
            <a:r>
              <a:rPr sz="900" b="0">
                <a:solidFill>
                  <a:srgbClr val="93A0B2"/>
                </a:solidFill>
                <a:latin typeface="Helvetica Neue"/>
              </a:rPr>
              <a:t>   ·   Architecture &amp; Tooling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6065215" y="6528816"/>
            <a:ext cx="5669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60" b="0">
                <a:solidFill>
                  <a:srgbClr val="51617A"/>
                </a:solidFill>
                <a:latin typeface="Menlo"/>
              </a:rPr>
              <a:t>Python · MCP · Pydantic · mxGraph XML · Copilot · Claude · Vertex AI Agent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219456"/>
            <a:ext cx="155448" cy="14630"/>
          </a:xfrm>
          <a:prstGeom prst="rect">
            <a:avLst/>
          </a:prstGeom>
          <a:solidFill>
            <a:srgbClr val="B7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" y="219456"/>
            <a:ext cx="14630" cy="155448"/>
          </a:xfrm>
          <a:prstGeom prst="rect">
            <a:avLst/>
          </a:prstGeom>
          <a:solidFill>
            <a:srgbClr val="B7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02160" y="219456"/>
            <a:ext cx="155448" cy="14630"/>
          </a:xfrm>
          <a:prstGeom prst="rect">
            <a:avLst/>
          </a:prstGeom>
          <a:solidFill>
            <a:srgbClr val="B7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57608" y="219456"/>
            <a:ext cx="14630" cy="155448"/>
          </a:xfrm>
          <a:prstGeom prst="rect">
            <a:avLst/>
          </a:prstGeom>
          <a:solidFill>
            <a:srgbClr val="B7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9456" y="6623913"/>
            <a:ext cx="155448" cy="14630"/>
          </a:xfrm>
          <a:prstGeom prst="rect">
            <a:avLst/>
          </a:prstGeom>
          <a:solidFill>
            <a:srgbClr val="B7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9456" y="6468465"/>
            <a:ext cx="14630" cy="155448"/>
          </a:xfrm>
          <a:prstGeom prst="rect">
            <a:avLst/>
          </a:prstGeom>
          <a:solidFill>
            <a:srgbClr val="B7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02160" y="6623913"/>
            <a:ext cx="155448" cy="14630"/>
          </a:xfrm>
          <a:prstGeom prst="rect">
            <a:avLst/>
          </a:prstGeom>
          <a:solidFill>
            <a:srgbClr val="B7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957608" y="6468465"/>
            <a:ext cx="14630" cy="155448"/>
          </a:xfrm>
          <a:prstGeom prst="rect">
            <a:avLst/>
          </a:prstGeom>
          <a:solidFill>
            <a:srgbClr val="B7C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92608"/>
            <a:ext cx="228600" cy="228600"/>
          </a:xfrm>
          <a:prstGeom prst="roundRect">
            <a:avLst>
              <a:gd name="adj" fmla="val 30000"/>
            </a:avLst>
          </a:prstGeom>
          <a:solidFill>
            <a:srgbClr val="1657B0"/>
          </a:solidFill>
          <a:ln>
            <a:noFill/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23036" y="358444"/>
            <a:ext cx="96926" cy="9692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240">
                <a:solidFill>
                  <a:srgbClr val="1657B0"/>
                </a:solidFill>
                <a:latin typeface="Menlo"/>
              </a:rPr>
              <a:t>ARCHITECTURE COPILOT</a:t>
            </a:r>
            <a:r>
              <a:rPr sz="900" b="0" spc="240">
                <a:solidFill>
                  <a:srgbClr val="93A0B2"/>
                </a:solidFill>
                <a:latin typeface="Menlo"/>
              </a:rPr>
              <a:t>   ·   FLOW DEEP-DIVE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45575" y="274320"/>
            <a:ext cx="2788920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2D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82735" y="274320"/>
            <a:ext cx="2514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1617A"/>
                </a:solidFill>
                <a:latin typeface="Menlo"/>
              </a:rPr>
              <a:t>9 stages · 8 handoffs · 2 gates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5216"/>
            <a:ext cx="11338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spc="-20">
                <a:solidFill>
                  <a:srgbClr val="16202E"/>
                </a:solidFill>
                <a:latin typeface="Helvetica Neue"/>
              </a:rPr>
              <a:t>How the flow runs — </a:t>
            </a:r>
            <a:r>
              <a:rPr sz="2200" b="1" spc="-20">
                <a:solidFill>
                  <a:srgbClr val="1657B0"/>
                </a:solidFill>
                <a:latin typeface="Helvetica Neue"/>
              </a:rPr>
              <a:t>stage-by-stage handoffs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152144"/>
            <a:ext cx="1371600" cy="41148"/>
          </a:xfrm>
          <a:prstGeom prst="roundRect">
            <a:avLst>
              <a:gd name="adj" fmla="val 50000"/>
            </a:avLst>
          </a:prstGeom>
          <a:solidFill>
            <a:srgbClr val="165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280160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1617A"/>
                </a:solidFill>
                <a:latin typeface="Helvetica Neue"/>
              </a:rPr>
              <a:t>Each stage consumes one artifact and produces the next. Two hard gates can pause the run (Guardrail) or send it back to fix (Verify).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83716" y="1795881"/>
            <a:ext cx="10024262" cy="10972"/>
          </a:xfrm>
          <a:prstGeom prst="rect">
            <a:avLst/>
          </a:prstGeom>
          <a:solidFill>
            <a:srgbClr val="D2D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46556" y="1664208"/>
            <a:ext cx="274320" cy="274320"/>
          </a:xfrm>
          <a:prstGeom prst="ellipse">
            <a:avLst/>
          </a:prstGeom>
          <a:solidFill>
            <a:srgbClr val="667487"/>
          </a:solidFill>
          <a:ln>
            <a:noFill/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556" y="16642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6224" y="1700784"/>
            <a:ext cx="12801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93A0B2"/>
                </a:solidFill>
                <a:latin typeface="Helvetica Neue"/>
              </a:rPr>
              <a:t>›</a:t>
            </a:r>
          </a:p>
        </p:txBody>
      </p:sp>
      <p:sp>
        <p:nvSpPr>
          <p:cNvPr id="22" name="Oval 21"/>
          <p:cNvSpPr/>
          <p:nvPr/>
        </p:nvSpPr>
        <p:spPr>
          <a:xfrm>
            <a:off x="2199589" y="1664208"/>
            <a:ext cx="274320" cy="274320"/>
          </a:xfrm>
          <a:prstGeom prst="ellipse">
            <a:avLst/>
          </a:prstGeom>
          <a:solidFill>
            <a:srgbClr val="6E5AA6"/>
          </a:solidFill>
          <a:ln>
            <a:noFill/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9589" y="16642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99257" y="1700784"/>
            <a:ext cx="12801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93A0B2"/>
                </a:solidFill>
                <a:latin typeface="Helvetica Neue"/>
              </a:rPr>
              <a:t>›</a:t>
            </a:r>
          </a:p>
        </p:txBody>
      </p:sp>
      <p:sp>
        <p:nvSpPr>
          <p:cNvPr id="25" name="Oval 24"/>
          <p:cNvSpPr/>
          <p:nvPr/>
        </p:nvSpPr>
        <p:spPr>
          <a:xfrm>
            <a:off x="3452622" y="1664208"/>
            <a:ext cx="274320" cy="274320"/>
          </a:xfrm>
          <a:prstGeom prst="ellipse">
            <a:avLst/>
          </a:prstGeom>
          <a:solidFill>
            <a:srgbClr val="AE7526"/>
          </a:solidFill>
          <a:ln>
            <a:noFill/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52622" y="16642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52290" y="1700784"/>
            <a:ext cx="12801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93A0B2"/>
                </a:solidFill>
                <a:latin typeface="Helvetica Neue"/>
              </a:rPr>
              <a:t>›</a:t>
            </a:r>
          </a:p>
        </p:txBody>
      </p:sp>
      <p:sp>
        <p:nvSpPr>
          <p:cNvPr id="28" name="Oval 27"/>
          <p:cNvSpPr/>
          <p:nvPr/>
        </p:nvSpPr>
        <p:spPr>
          <a:xfrm>
            <a:off x="4705654" y="1664208"/>
            <a:ext cx="274320" cy="274320"/>
          </a:xfrm>
          <a:prstGeom prst="ellipse">
            <a:avLst/>
          </a:prstGeom>
          <a:solidFill>
            <a:srgbClr val="1657B0"/>
          </a:solidFill>
          <a:ln>
            <a:noFill/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5654" y="16642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05323" y="1700784"/>
            <a:ext cx="12801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93A0B2"/>
                </a:solidFill>
                <a:latin typeface="Helvetica Neue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58687" y="1664208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BF515B"/>
          </a:solidFill>
          <a:ln>
            <a:noFill/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58687" y="16642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58356" y="1700784"/>
            <a:ext cx="12801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93A0B2"/>
                </a:solidFill>
                <a:latin typeface="Helvetica Neue"/>
              </a:rPr>
              <a:t>›</a:t>
            </a:r>
          </a:p>
        </p:txBody>
      </p:sp>
      <p:sp>
        <p:nvSpPr>
          <p:cNvPr id="34" name="Oval 33"/>
          <p:cNvSpPr/>
          <p:nvPr/>
        </p:nvSpPr>
        <p:spPr>
          <a:xfrm>
            <a:off x="7211720" y="1664208"/>
            <a:ext cx="274320" cy="274320"/>
          </a:xfrm>
          <a:prstGeom prst="ellipse">
            <a:avLst/>
          </a:prstGeom>
          <a:solidFill>
            <a:srgbClr val="1657B0"/>
          </a:solidFill>
          <a:ln>
            <a:noFill/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11720" y="16642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Helvetica Neue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11388" y="1700784"/>
            <a:ext cx="12801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93A0B2"/>
                </a:solidFill>
                <a:latin typeface="Helvetica Neue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64753" y="1664208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2E8C6A"/>
          </a:solidFill>
          <a:ln>
            <a:noFill/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64753" y="16642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Helvetica Neue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4421" y="1700784"/>
            <a:ext cx="12801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93A0B2"/>
                </a:solidFill>
                <a:latin typeface="Helvetica Neue"/>
              </a:rPr>
              <a:t>›</a:t>
            </a:r>
          </a:p>
        </p:txBody>
      </p:sp>
      <p:sp>
        <p:nvSpPr>
          <p:cNvPr id="40" name="Oval 39"/>
          <p:cNvSpPr/>
          <p:nvPr/>
        </p:nvSpPr>
        <p:spPr>
          <a:xfrm>
            <a:off x="9717786" y="1664208"/>
            <a:ext cx="274320" cy="274320"/>
          </a:xfrm>
          <a:prstGeom prst="ellipse">
            <a:avLst/>
          </a:prstGeom>
          <a:solidFill>
            <a:srgbClr val="AE7526"/>
          </a:solidFill>
          <a:ln>
            <a:noFill/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17786" y="16642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Helvetica Neue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17454" y="1700784"/>
            <a:ext cx="12801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93A0B2"/>
                </a:solidFill>
                <a:latin typeface="Helvetica Neue"/>
              </a:rPr>
              <a:t>›</a:t>
            </a:r>
          </a:p>
        </p:txBody>
      </p:sp>
      <p:sp>
        <p:nvSpPr>
          <p:cNvPr id="43" name="Oval 42"/>
          <p:cNvSpPr/>
          <p:nvPr/>
        </p:nvSpPr>
        <p:spPr>
          <a:xfrm>
            <a:off x="10970818" y="1664208"/>
            <a:ext cx="274320" cy="274320"/>
          </a:xfrm>
          <a:prstGeom prst="ellipse">
            <a:avLst/>
          </a:prstGeom>
          <a:solidFill>
            <a:srgbClr val="2E8C6A"/>
          </a:solidFill>
          <a:ln>
            <a:noFill/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970818" y="16642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Helvetica Neue"/>
              </a:rPr>
              <a:t>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1993392"/>
            <a:ext cx="541004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spc="100">
                <a:solidFill>
                  <a:srgbClr val="1657B0"/>
                </a:solidFill>
                <a:latin typeface="Menlo"/>
              </a:rPr>
              <a:t>PART 1</a:t>
            </a:r>
            <a:r>
              <a:rPr sz="850" b="0" spc="60">
                <a:solidFill>
                  <a:srgbClr val="93A0B2"/>
                </a:solidFill>
                <a:latin typeface="Menlo"/>
              </a:rPr>
              <a:t>   INGEST · PLAN · GUARD  (stages 1–5)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4447" y="1993392"/>
            <a:ext cx="541004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spc="100">
                <a:solidFill>
                  <a:srgbClr val="1657B0"/>
                </a:solidFill>
                <a:latin typeface="Menlo"/>
              </a:rPr>
              <a:t>PART 2</a:t>
            </a:r>
            <a:r>
              <a:rPr sz="850" b="0" spc="60">
                <a:solidFill>
                  <a:srgbClr val="93A0B2"/>
                </a:solidFill>
                <a:latin typeface="Menlo"/>
              </a:rPr>
              <a:t>   BUILD · VERIFY · DELIVER  (stages 5–9)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2231136"/>
            <a:ext cx="5410047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7ECF3"/>
            </a:solidFill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85216" y="2340864"/>
            <a:ext cx="210312" cy="210312"/>
          </a:xfrm>
          <a:prstGeom prst="ellipse">
            <a:avLst/>
          </a:prstGeom>
          <a:solidFill>
            <a:srgbClr val="6674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5216" y="2340864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" y="2340864"/>
            <a:ext cx="1554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93A0B2"/>
                </a:solidFill>
                <a:latin typeface="Helvetica Neue"/>
              </a:rPr>
              <a:t>→</a:t>
            </a:r>
          </a:p>
        </p:txBody>
      </p:sp>
      <p:sp>
        <p:nvSpPr>
          <p:cNvPr id="51" name="Oval 50"/>
          <p:cNvSpPr/>
          <p:nvPr/>
        </p:nvSpPr>
        <p:spPr>
          <a:xfrm>
            <a:off x="969264" y="2340864"/>
            <a:ext cx="210312" cy="210312"/>
          </a:xfrm>
          <a:prstGeom prst="ellipse">
            <a:avLst/>
          </a:prstGeom>
          <a:solidFill>
            <a:srgbClr val="6E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9264" y="2340864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80160" y="2331720"/>
            <a:ext cx="2712567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202E"/>
                </a:solidFill>
                <a:latin typeface="Helvetica Neue"/>
              </a:rPr>
              <a:t>Input → Route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1599" y="23317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93A0B2"/>
                </a:solidFill>
                <a:latin typeface="Menlo"/>
              </a:rPr>
              <a:t>Human → Copilot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" y="2633472"/>
            <a:ext cx="51174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1657B0"/>
                </a:solidFill>
                <a:latin typeface="Menlo"/>
              </a:rPr>
              <a:t>trigger  </a:t>
            </a:r>
            <a:r>
              <a:rPr sz="800" b="0">
                <a:solidFill>
                  <a:srgbClr val="51617A"/>
                </a:solidFill>
                <a:latin typeface="Helvetica Neue"/>
              </a:rPr>
              <a:t>one-line shorthand in Copilot Chat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2648" y="2775203"/>
            <a:ext cx="51174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1657B0"/>
                </a:solidFill>
                <a:latin typeface="Menlo"/>
              </a:rPr>
              <a:t>passes  </a:t>
            </a:r>
            <a:r>
              <a:rPr sz="800" b="0">
                <a:solidFill>
                  <a:srgbClr val="51617A"/>
                </a:solidFill>
                <a:latin typeface="Helvetica Neue"/>
              </a:rPr>
              <a:t>jira-stories/&lt;KEY&gt;.txt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2648" y="2916935"/>
            <a:ext cx="51174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1657B0"/>
                </a:solidFill>
                <a:latin typeface="Menlo"/>
              </a:rPr>
              <a:t>does  </a:t>
            </a:r>
            <a:r>
              <a:rPr sz="800" b="0">
                <a:solidFill>
                  <a:srgbClr val="51617A"/>
                </a:solidFill>
                <a:latin typeface="Helvetica Neue"/>
              </a:rPr>
              <a:t>read copilot rules · derive create/update · pick prompt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7200" y="3076956"/>
            <a:ext cx="5410047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7ECF3"/>
            </a:solidFill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5216" y="3186684"/>
            <a:ext cx="210312" cy="210312"/>
          </a:xfrm>
          <a:prstGeom prst="ellipse">
            <a:avLst/>
          </a:prstGeom>
          <a:solidFill>
            <a:srgbClr val="6E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85216" y="3186684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3816" y="3186684"/>
            <a:ext cx="1554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93A0B2"/>
                </a:solidFill>
                <a:latin typeface="Helvetica Neue"/>
              </a:rPr>
              <a:t>→</a:t>
            </a:r>
          </a:p>
        </p:txBody>
      </p:sp>
      <p:sp>
        <p:nvSpPr>
          <p:cNvPr id="62" name="Oval 61"/>
          <p:cNvSpPr/>
          <p:nvPr/>
        </p:nvSpPr>
        <p:spPr>
          <a:xfrm>
            <a:off x="969264" y="3186684"/>
            <a:ext cx="210312" cy="210312"/>
          </a:xfrm>
          <a:prstGeom prst="ellipse">
            <a:avLst/>
          </a:prstGeom>
          <a:solidFill>
            <a:srgbClr val="AE7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" y="3186684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80160" y="3177540"/>
            <a:ext cx="2712567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202E"/>
                </a:solidFill>
                <a:latin typeface="Helvetica Neue"/>
              </a:rPr>
              <a:t>Route → Normalize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11599" y="317754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93A0B2"/>
                </a:solidFill>
                <a:latin typeface="Menlo"/>
              </a:rPr>
              <a:t>Copilot → Terminal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2648" y="3479292"/>
            <a:ext cx="51174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1657B0"/>
                </a:solidFill>
                <a:latin typeface="Menlo"/>
              </a:rPr>
              <a:t>trigger  </a:t>
            </a:r>
            <a:r>
              <a:rPr sz="800" b="0">
                <a:solidFill>
                  <a:srgbClr val="51617A"/>
                </a:solidFill>
                <a:latin typeface="Helvetica Neue"/>
              </a:rPr>
              <a:t>prompt step 0 → normalize_jira_story.py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2648" y="3621024"/>
            <a:ext cx="51174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1657B0"/>
                </a:solidFill>
                <a:latin typeface="Menlo"/>
              </a:rPr>
              <a:t>passes  </a:t>
            </a:r>
            <a:r>
              <a:rPr sz="800" b="0">
                <a:solidFill>
                  <a:srgbClr val="51617A"/>
                </a:solidFill>
                <a:latin typeface="Helvetica Neue"/>
              </a:rPr>
              <a:t>&lt;KEY&gt;.txt + surgical template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2648" y="3762756"/>
            <a:ext cx="51174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1657B0"/>
                </a:solidFill>
                <a:latin typeface="Menlo"/>
              </a:rPr>
              <a:t>does  </a:t>
            </a:r>
            <a:r>
              <a:rPr sz="800" b="0">
                <a:solidFill>
                  <a:srgbClr val="51617A"/>
                </a:solidFill>
                <a:latin typeface="Helvetica Neue"/>
              </a:rPr>
              <a:t>rewrite raw prose → canonical 11-section brief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7200" y="3922776"/>
            <a:ext cx="5410047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7ECF3"/>
            </a:solidFill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85216" y="4032504"/>
            <a:ext cx="210312" cy="210312"/>
          </a:xfrm>
          <a:prstGeom prst="ellipse">
            <a:avLst/>
          </a:prstGeom>
          <a:solidFill>
            <a:srgbClr val="AE7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85216" y="4032504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" y="4032504"/>
            <a:ext cx="1554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93A0B2"/>
                </a:solidFill>
                <a:latin typeface="Helvetica Neue"/>
              </a:rPr>
              <a:t>→</a:t>
            </a:r>
          </a:p>
        </p:txBody>
      </p:sp>
      <p:sp>
        <p:nvSpPr>
          <p:cNvPr id="73" name="Oval 72"/>
          <p:cNvSpPr/>
          <p:nvPr/>
        </p:nvSpPr>
        <p:spPr>
          <a:xfrm>
            <a:off x="969264" y="4032504"/>
            <a:ext cx="210312" cy="210312"/>
          </a:xfrm>
          <a:prstGeom prst="ellipse">
            <a:avLst/>
          </a:prstGeom>
          <a:solidFill>
            <a:srgbClr val="165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69264" y="4032504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80160" y="4023360"/>
            <a:ext cx="2712567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202E"/>
                </a:solidFill>
                <a:latin typeface="Helvetica Neue"/>
              </a:rPr>
              <a:t>Normalize → Understand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11599" y="402336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93A0B2"/>
                </a:solidFill>
                <a:latin typeface="Menlo"/>
              </a:rPr>
              <a:t>Terminal → MCP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12648" y="4325112"/>
            <a:ext cx="51174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1657B0"/>
                </a:solidFill>
                <a:latin typeface="Menlo"/>
              </a:rPr>
              <a:t>trigger  </a:t>
            </a:r>
            <a:r>
              <a:rPr sz="800" b="0">
                <a:solidFill>
                  <a:srgbClr val="51617A"/>
                </a:solidFill>
                <a:latin typeface="Helvetica Neue"/>
              </a:rPr>
              <a:t>read_story("&lt;KEY&gt;-surgical.txt")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2648" y="4466844"/>
            <a:ext cx="51174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1657B0"/>
                </a:solidFill>
                <a:latin typeface="Menlo"/>
              </a:rPr>
              <a:t>passes  </a:t>
            </a:r>
            <a:r>
              <a:rPr sz="800" b="0">
                <a:solidFill>
                  <a:srgbClr val="51617A"/>
                </a:solidFill>
                <a:latin typeface="Helvetica Neue"/>
              </a:rPr>
              <a:t>&lt;KEY&gt;-surgical.txt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2648" y="4608576"/>
            <a:ext cx="51174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1657B0"/>
                </a:solidFill>
                <a:latin typeface="Menlo"/>
              </a:rPr>
              <a:t>does  </a:t>
            </a:r>
            <a:r>
              <a:rPr sz="800" b="0">
                <a:solidFill>
                  <a:srgbClr val="51617A"/>
                </a:solidFill>
                <a:latin typeface="Helvetica Neue"/>
              </a:rPr>
              <a:t>identify components · layers · data-flow order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57200" y="4768596"/>
            <a:ext cx="5410047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7ECF3"/>
            </a:solidFill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85216" y="4878324"/>
            <a:ext cx="210312" cy="210312"/>
          </a:xfrm>
          <a:prstGeom prst="ellipse">
            <a:avLst/>
          </a:prstGeom>
          <a:solidFill>
            <a:srgbClr val="165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85216" y="4878324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13816" y="4878324"/>
            <a:ext cx="1554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93A0B2"/>
                </a:solidFill>
                <a:latin typeface="Helvetica Neue"/>
              </a:rPr>
              <a:t>→</a:t>
            </a:r>
          </a:p>
        </p:txBody>
      </p:sp>
      <p:sp>
        <p:nvSpPr>
          <p:cNvPr id="84" name="Oval 83"/>
          <p:cNvSpPr/>
          <p:nvPr/>
        </p:nvSpPr>
        <p:spPr>
          <a:xfrm>
            <a:off x="969264" y="4878324"/>
            <a:ext cx="210312" cy="210312"/>
          </a:xfrm>
          <a:prstGeom prst="ellipse">
            <a:avLst/>
          </a:prstGeom>
          <a:solidFill>
            <a:srgbClr val="BF5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69264" y="4878324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280160" y="4869180"/>
            <a:ext cx="2712567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202E"/>
                </a:solidFill>
                <a:latin typeface="Helvetica Neue"/>
              </a:rPr>
              <a:t>Understand → Guardrail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11599" y="486918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93A0B2"/>
                </a:solidFill>
                <a:latin typeface="Menlo"/>
              </a:rPr>
              <a:t>Copilot → Gate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12648" y="5170932"/>
            <a:ext cx="51174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1657B0"/>
                </a:solidFill>
                <a:latin typeface="Menlo"/>
              </a:rPr>
              <a:t>trigger  </a:t>
            </a:r>
            <a:r>
              <a:rPr sz="800" b="0">
                <a:solidFill>
                  <a:srgbClr val="51617A"/>
                </a:solidFill>
                <a:latin typeface="Helvetica Neue"/>
              </a:rPr>
              <a:t>check every component + its gcp_icon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2648" y="5312664"/>
            <a:ext cx="51174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1657B0"/>
                </a:solidFill>
                <a:latin typeface="Menlo"/>
              </a:rPr>
              <a:t>passes  </a:t>
            </a:r>
            <a:r>
              <a:rPr sz="800" b="0">
                <a:solidFill>
                  <a:srgbClr val="51617A"/>
                </a:solidFill>
                <a:latin typeface="Helvetica Neue"/>
              </a:rPr>
              <a:t>the planned component list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12648" y="5454396"/>
            <a:ext cx="51174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1657B0"/>
                </a:solidFill>
                <a:latin typeface="Menlo"/>
              </a:rPr>
              <a:t>does  </a:t>
            </a:r>
            <a:r>
              <a:rPr sz="800" b="0">
                <a:solidFill>
                  <a:srgbClr val="51617A"/>
                </a:solidFill>
                <a:latin typeface="Helvetica Neue"/>
              </a:rPr>
              <a:t>match vs policy/unavailable_services.md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57200" y="5614416"/>
            <a:ext cx="5410047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1590">
            <a:solidFill>
              <a:srgbClr val="BF515B"/>
            </a:solidFill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12648" y="5715000"/>
            <a:ext cx="511743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50">
                <a:solidFill>
                  <a:srgbClr val="BF515B"/>
                </a:solidFill>
                <a:latin typeface="Menlo"/>
              </a:rPr>
              <a:t>◆ GATE · Guardrail (stage 5)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12648" y="6007608"/>
            <a:ext cx="51174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2E8C6A"/>
                </a:solidFill>
                <a:latin typeface="Menlo"/>
              </a:rPr>
              <a:t>PASS  </a:t>
            </a:r>
            <a:r>
              <a:rPr sz="800" b="0">
                <a:solidFill>
                  <a:srgbClr val="51617A"/>
                </a:solidFill>
                <a:latin typeface="Helvetica Neue"/>
              </a:rPr>
              <a:t>no restricted service → build proceeds silently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12648" y="6190488"/>
            <a:ext cx="51174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BF515B"/>
                </a:solidFill>
                <a:latin typeface="Menlo"/>
              </a:rPr>
              <a:t>FAIL  </a:t>
            </a:r>
            <a:r>
              <a:rPr sz="800" b="0">
                <a:solidFill>
                  <a:srgbClr val="51617A"/>
                </a:solidFill>
                <a:latin typeface="Helvetica Neue"/>
              </a:rPr>
              <a:t>STOP · rank approved alternatives · you pick · substitute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324447" y="2231136"/>
            <a:ext cx="5410047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7ECF3"/>
            </a:solidFill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452463" y="2340864"/>
            <a:ext cx="210312" cy="210312"/>
          </a:xfrm>
          <a:prstGeom prst="ellipse">
            <a:avLst/>
          </a:prstGeom>
          <a:solidFill>
            <a:srgbClr val="BF5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452463" y="2340864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681063" y="2340864"/>
            <a:ext cx="1554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93A0B2"/>
                </a:solidFill>
                <a:latin typeface="Helvetica Neue"/>
              </a:rPr>
              <a:t>→</a:t>
            </a:r>
          </a:p>
        </p:txBody>
      </p:sp>
      <p:sp>
        <p:nvSpPr>
          <p:cNvPr id="99" name="Oval 98"/>
          <p:cNvSpPr/>
          <p:nvPr/>
        </p:nvSpPr>
        <p:spPr>
          <a:xfrm>
            <a:off x="6836511" y="2340864"/>
            <a:ext cx="210312" cy="210312"/>
          </a:xfrm>
          <a:prstGeom prst="ellipse">
            <a:avLst/>
          </a:prstGeom>
          <a:solidFill>
            <a:srgbClr val="165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836511" y="2340864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Helvetica Neue"/>
              </a:rPr>
              <a:t>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147407" y="2331720"/>
            <a:ext cx="2712567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202E"/>
                </a:solidFill>
                <a:latin typeface="Helvetica Neue"/>
              </a:rPr>
              <a:t>Guardrail → Build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978847" y="233172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93A0B2"/>
                </a:solidFill>
                <a:latin typeface="Menlo"/>
              </a:rPr>
              <a:t>Gate → MCP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479895" y="2633472"/>
            <a:ext cx="51174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1657B0"/>
                </a:solidFill>
                <a:latin typeface="Menlo"/>
              </a:rPr>
              <a:t>trigger  </a:t>
            </a:r>
            <a:r>
              <a:rPr sz="800" b="0">
                <a:solidFill>
                  <a:srgbClr val="51617A"/>
                </a:solidFill>
                <a:latin typeface="Helvetica Neue"/>
              </a:rPr>
              <a:t>your approved plan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479895" y="2775203"/>
            <a:ext cx="51174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1657B0"/>
                </a:solidFill>
                <a:latin typeface="Menlo"/>
              </a:rPr>
              <a:t>passes  </a:t>
            </a:r>
            <a:r>
              <a:rPr sz="800" b="0">
                <a:solidFill>
                  <a:srgbClr val="51617A"/>
                </a:solidFill>
                <a:latin typeface="Helvetica Neue"/>
              </a:rPr>
              <a:t>confirmed components + layers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79895" y="2916935"/>
            <a:ext cx="51174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1657B0"/>
                </a:solidFill>
                <a:latin typeface="Menlo"/>
              </a:rPr>
              <a:t>does  </a:t>
            </a:r>
            <a:r>
              <a:rPr sz="800" b="0">
                <a:solidFill>
                  <a:srgbClr val="51617A"/>
                </a:solidFill>
                <a:latin typeface="Helvetica Neue"/>
              </a:rPr>
              <a:t>create_diagram → add_container → add_node → add_edge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6324447" y="3076956"/>
            <a:ext cx="5410047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7ECF3"/>
            </a:solidFill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6452463" y="3186684"/>
            <a:ext cx="210312" cy="210312"/>
          </a:xfrm>
          <a:prstGeom prst="ellipse">
            <a:avLst/>
          </a:prstGeom>
          <a:solidFill>
            <a:srgbClr val="165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452463" y="3186684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Helvetica Neue"/>
              </a:rPr>
              <a:t>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681063" y="3186684"/>
            <a:ext cx="1554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93A0B2"/>
                </a:solidFill>
                <a:latin typeface="Helvetica Neue"/>
              </a:rPr>
              <a:t>→</a:t>
            </a:r>
          </a:p>
        </p:txBody>
      </p:sp>
      <p:sp>
        <p:nvSpPr>
          <p:cNvPr id="110" name="Oval 109"/>
          <p:cNvSpPr/>
          <p:nvPr/>
        </p:nvSpPr>
        <p:spPr>
          <a:xfrm>
            <a:off x="6836511" y="3186684"/>
            <a:ext cx="210312" cy="210312"/>
          </a:xfrm>
          <a:prstGeom prst="ellipse">
            <a:avLst/>
          </a:prstGeom>
          <a:solidFill>
            <a:srgbClr val="2E8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836511" y="3186684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Helvetica Neue"/>
              </a:rPr>
              <a:t>7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147407" y="3177540"/>
            <a:ext cx="2712567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202E"/>
                </a:solidFill>
                <a:latin typeface="Helvetica Neue"/>
              </a:rPr>
              <a:t>Build → Verify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78847" y="317754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93A0B2"/>
                </a:solidFill>
                <a:latin typeface="Menlo"/>
              </a:rPr>
              <a:t>MCP → Terminal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479895" y="3479292"/>
            <a:ext cx="51174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1657B0"/>
                </a:solidFill>
                <a:latin typeface="Menlo"/>
              </a:rPr>
              <a:t>trigger  </a:t>
            </a:r>
            <a:r>
              <a:rPr sz="800" b="0">
                <a:solidFill>
                  <a:srgbClr val="51617A"/>
                </a:solidFill>
                <a:latin typeface="Helvetica Neue"/>
              </a:rPr>
              <a:t>verify_mcp.py --diagram &lt;file&gt;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479895" y="3621024"/>
            <a:ext cx="51174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1657B0"/>
                </a:solidFill>
                <a:latin typeface="Menlo"/>
              </a:rPr>
              <a:t>passes  </a:t>
            </a:r>
            <a:r>
              <a:rPr sz="800" b="0">
                <a:solidFill>
                  <a:srgbClr val="51617A"/>
                </a:solidFill>
                <a:latin typeface="Helvetica Neue"/>
              </a:rPr>
              <a:t>draft &lt;KEY&gt;-&lt;ts&gt;.drawio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479895" y="3762756"/>
            <a:ext cx="51174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1657B0"/>
                </a:solidFill>
                <a:latin typeface="Menlo"/>
              </a:rPr>
              <a:t>does  </a:t>
            </a:r>
            <a:r>
              <a:rPr sz="800" b="0">
                <a:solidFill>
                  <a:srgbClr val="51617A"/>
                </a:solidFill>
                <a:latin typeface="Helvetica Neue"/>
              </a:rPr>
              <a:t>check edges · labels · icons · arrows · fan-out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6324447" y="3922776"/>
            <a:ext cx="5410047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1590">
            <a:solidFill>
              <a:srgbClr val="2E8C6A"/>
            </a:solidFill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479895" y="4023360"/>
            <a:ext cx="511743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50">
                <a:solidFill>
                  <a:srgbClr val="2E8C6A"/>
                </a:solidFill>
                <a:latin typeface="Menlo"/>
              </a:rPr>
              <a:t>◆ GATE · Verify (stage 7)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479895" y="4315968"/>
            <a:ext cx="51174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2E8C6A"/>
                </a:solidFill>
                <a:latin typeface="Menlo"/>
              </a:rPr>
              <a:t>PASS  </a:t>
            </a:r>
            <a:r>
              <a:rPr sz="800" b="0">
                <a:solidFill>
                  <a:srgbClr val="51617A"/>
                </a:solidFill>
                <a:latin typeface="Helvetica Neue"/>
              </a:rPr>
              <a:t>exit 0 → continue to Document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479895" y="4498848"/>
            <a:ext cx="51174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BF515B"/>
                </a:solidFill>
                <a:latin typeface="Menlo"/>
              </a:rPr>
              <a:t>FAIL  </a:t>
            </a:r>
            <a:r>
              <a:rPr sz="800" b="0">
                <a:solidFill>
                  <a:srgbClr val="51617A"/>
                </a:solidFill>
                <a:latin typeface="Helvetica Neue"/>
              </a:rPr>
              <a:t>exit 2 → fix (update_node / remove_element) · re-verify (loop)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324447" y="4768596"/>
            <a:ext cx="5410047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7ECF3"/>
            </a:solidFill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6452463" y="4878324"/>
            <a:ext cx="210312" cy="210312"/>
          </a:xfrm>
          <a:prstGeom prst="ellipse">
            <a:avLst/>
          </a:prstGeom>
          <a:solidFill>
            <a:srgbClr val="2E8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452463" y="4878324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Helvetica Neue"/>
              </a:rPr>
              <a:t>7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681063" y="4878324"/>
            <a:ext cx="1554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93A0B2"/>
                </a:solidFill>
                <a:latin typeface="Helvetica Neue"/>
              </a:rPr>
              <a:t>→</a:t>
            </a:r>
          </a:p>
        </p:txBody>
      </p:sp>
      <p:sp>
        <p:nvSpPr>
          <p:cNvPr id="125" name="Oval 124"/>
          <p:cNvSpPr/>
          <p:nvPr/>
        </p:nvSpPr>
        <p:spPr>
          <a:xfrm>
            <a:off x="6836511" y="4878324"/>
            <a:ext cx="210312" cy="210312"/>
          </a:xfrm>
          <a:prstGeom prst="ellipse">
            <a:avLst/>
          </a:prstGeom>
          <a:solidFill>
            <a:srgbClr val="AE7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836511" y="4878324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Helvetica Neue"/>
              </a:rPr>
              <a:t>8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147407" y="4869180"/>
            <a:ext cx="2712567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202E"/>
                </a:solidFill>
                <a:latin typeface="Helvetica Neue"/>
              </a:rPr>
              <a:t>Verify → Document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978847" y="486918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93A0B2"/>
                </a:solidFill>
                <a:latin typeface="Menlo"/>
              </a:rPr>
              <a:t>Terminal → Terminal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479895" y="5170932"/>
            <a:ext cx="51174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1657B0"/>
                </a:solidFill>
                <a:latin typeface="Menlo"/>
              </a:rPr>
              <a:t>trigger  </a:t>
            </a:r>
            <a:r>
              <a:rPr sz="800" b="0">
                <a:solidFill>
                  <a:srgbClr val="51617A"/>
                </a:solidFill>
                <a:latin typeface="Helvetica Neue"/>
              </a:rPr>
              <a:t>generate_connector_details.py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479895" y="5312664"/>
            <a:ext cx="51174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1657B0"/>
                </a:solidFill>
                <a:latin typeface="Menlo"/>
              </a:rPr>
              <a:t>passes  </a:t>
            </a:r>
            <a:r>
              <a:rPr sz="800" b="0">
                <a:solidFill>
                  <a:srgbClr val="51617A"/>
                </a:solidFill>
                <a:latin typeface="Helvetica Neue"/>
              </a:rPr>
              <a:t>verified diagram + surgical brief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479895" y="5454396"/>
            <a:ext cx="51174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1657B0"/>
                </a:solidFill>
                <a:latin typeface="Menlo"/>
              </a:rPr>
              <a:t>does  </a:t>
            </a:r>
            <a:r>
              <a:rPr sz="800" b="0">
                <a:solidFill>
                  <a:srgbClr val="51617A"/>
                </a:solidFill>
                <a:latin typeface="Helvetica Neue"/>
              </a:rPr>
              <a:t>fill the 14-column connector contract · zero {TBD}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324447" y="5614416"/>
            <a:ext cx="5410047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7ECF3"/>
            </a:solidFill>
          </a:ln>
          <a:effectLst>
            <a:outerShdw blurRad="82296" dist="25603" dir="5400000" rotWithShape="0">
              <a:srgbClr val="1B2A4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6452463" y="5724144"/>
            <a:ext cx="210312" cy="210312"/>
          </a:xfrm>
          <a:prstGeom prst="ellipse">
            <a:avLst/>
          </a:prstGeom>
          <a:solidFill>
            <a:srgbClr val="AE7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452463" y="5724144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Helvetica Neue"/>
              </a:rPr>
              <a:t>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681063" y="5724144"/>
            <a:ext cx="15544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93A0B2"/>
                </a:solidFill>
                <a:latin typeface="Helvetica Neue"/>
              </a:rPr>
              <a:t>→</a:t>
            </a:r>
          </a:p>
        </p:txBody>
      </p:sp>
      <p:sp>
        <p:nvSpPr>
          <p:cNvPr id="136" name="Oval 135"/>
          <p:cNvSpPr/>
          <p:nvPr/>
        </p:nvSpPr>
        <p:spPr>
          <a:xfrm>
            <a:off x="6836511" y="5724144"/>
            <a:ext cx="210312" cy="210312"/>
          </a:xfrm>
          <a:prstGeom prst="ellipse">
            <a:avLst/>
          </a:prstGeom>
          <a:solidFill>
            <a:srgbClr val="2E8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836511" y="5724144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Helvetica Neue"/>
              </a:rPr>
              <a:t>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147407" y="5715000"/>
            <a:ext cx="2712567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6202E"/>
                </a:solidFill>
                <a:latin typeface="Helvetica Neue"/>
              </a:rPr>
              <a:t>Document → Deliver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978847" y="5715000"/>
            <a:ext cx="162763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93A0B2"/>
                </a:solidFill>
                <a:latin typeface="Menlo"/>
              </a:rPr>
              <a:t>Terminal → MCP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479895" y="6016752"/>
            <a:ext cx="51174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1657B0"/>
                </a:solidFill>
                <a:latin typeface="Menlo"/>
              </a:rPr>
              <a:t>trigger  </a:t>
            </a:r>
            <a:r>
              <a:rPr sz="800" b="0">
                <a:solidFill>
                  <a:srgbClr val="51617A"/>
                </a:solidFill>
                <a:latin typeface="Helvetica Neue"/>
              </a:rPr>
              <a:t>add_connector_table(diagram=...)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479895" y="6158484"/>
            <a:ext cx="51174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1657B0"/>
                </a:solidFill>
                <a:latin typeface="Menlo"/>
              </a:rPr>
              <a:t>passes  </a:t>
            </a:r>
            <a:r>
              <a:rPr sz="800" b="0">
                <a:solidFill>
                  <a:srgbClr val="51617A"/>
                </a:solidFill>
                <a:latin typeface="Helvetica Neue"/>
              </a:rPr>
              <a:t>&lt;KEY&gt;-connectors.md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479895" y="6300216"/>
            <a:ext cx="51174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1657B0"/>
                </a:solidFill>
                <a:latin typeface="Menlo"/>
              </a:rPr>
              <a:t>does  </a:t>
            </a:r>
            <a:r>
              <a:rPr sz="800" b="0">
                <a:solidFill>
                  <a:srgbClr val="51617A"/>
                </a:solidFill>
                <a:latin typeface="Helvetica Neue"/>
              </a:rPr>
              <a:t>embed contract table below swimlanes · zero-TBD guard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57200" y="6364224"/>
            <a:ext cx="11277295" cy="10058"/>
          </a:xfrm>
          <a:prstGeom prst="rect">
            <a:avLst/>
          </a:prstGeom>
          <a:solidFill>
            <a:srgbClr val="D2D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57200" y="6437376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6202E"/>
                </a:solidFill>
                <a:latin typeface="Helvetica Neue"/>
              </a:rPr>
              <a:t>Debajyoti Mukhopadhyay</a:t>
            </a:r>
            <a:r>
              <a:rPr sz="900" b="0">
                <a:solidFill>
                  <a:srgbClr val="93A0B2"/>
                </a:solidFill>
                <a:latin typeface="Helvetica Neue"/>
              </a:rPr>
              <a:t>   ·   Architecture &amp; Tooling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608015" y="6437376"/>
            <a:ext cx="6126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30" b="0">
                <a:solidFill>
                  <a:srgbClr val="51617A"/>
                </a:solidFill>
                <a:latin typeface="Menlo"/>
              </a:rPr>
              <a:t>artifact chain:  &lt;KEY&gt;.txt → &lt;KEY&gt;-surgical.txt → &lt;KEY&gt;-&lt;ts&gt;.drawio → &lt;KEY&gt;-connectors.md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